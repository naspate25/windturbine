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9" r:id="rId2"/>
  </p:sldMasterIdLst>
  <p:notesMasterIdLst>
    <p:notesMasterId r:id="rId24"/>
  </p:notesMasterIdLst>
  <p:sldIdLst>
    <p:sldId id="256" r:id="rId3"/>
    <p:sldId id="257" r:id="rId4"/>
    <p:sldId id="258" r:id="rId5"/>
    <p:sldId id="259" r:id="rId6"/>
    <p:sldId id="260" r:id="rId7"/>
    <p:sldId id="281" r:id="rId8"/>
    <p:sldId id="261" r:id="rId9"/>
    <p:sldId id="272" r:id="rId10"/>
    <p:sldId id="262" r:id="rId11"/>
    <p:sldId id="278" r:id="rId12"/>
    <p:sldId id="274" r:id="rId13"/>
    <p:sldId id="263" r:id="rId14"/>
    <p:sldId id="264" r:id="rId15"/>
    <p:sldId id="270" r:id="rId16"/>
    <p:sldId id="282" r:id="rId17"/>
    <p:sldId id="265" r:id="rId18"/>
    <p:sldId id="285" r:id="rId19"/>
    <p:sldId id="284" r:id="rId20"/>
    <p:sldId id="286" r:id="rId21"/>
    <p:sldId id="280" r:id="rId22"/>
    <p:sldId id="268" r:id="rId23"/>
  </p:sldIdLst>
  <p:sldSz cx="9144000" cy="5143500" type="screen16x9"/>
  <p:notesSz cx="6858000" cy="9144000"/>
  <p:embeddedFontLst>
    <p:embeddedFont>
      <p:font typeface="Nunito" pitchFamily="2" charset="0"/>
      <p:regular r:id="rId25"/>
      <p:bold r:id="rId26"/>
      <p:italic r:id="rId27"/>
      <p:boldItalic r:id="rId28"/>
    </p:embeddedFont>
    <p:embeddedFont>
      <p:font typeface="Nunito ExtraBold" pitchFamily="2" charset="0"/>
      <p:bold r:id="rId29"/>
      <p:boldItalic r:id="rId30"/>
    </p:embeddedFont>
    <p:embeddedFont>
      <p:font typeface="Nunito SemiBold"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ir1CuVc7P9GSjuQoiIFJRDez2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FB5A6A-6A5D-45A8-83F2-B5AB23CB960B}">
  <a:tblStyle styleId="{C1FB5A6A-6A5D-45A8-83F2-B5AB23CB960B}"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32" y="32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font" Target="fonts/font10.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4.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7.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font" Target="fonts/font6.fntdata"/><Relationship Id="rId35" Type="http://customschemas.google.com/relationships/presentationmetadata" Target="meta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03" name="Google Shape;10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10" name="Google Shape;11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16" name="Google Shape;11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2" name="Google Shape;12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14DB2E80-A9D3-4231-8F4D-36F54270925F}"/>
            </a:ext>
          </a:extLst>
        </p:cNvPr>
        <p:cNvGrpSpPr/>
        <p:nvPr/>
      </p:nvGrpSpPr>
      <p:grpSpPr>
        <a:xfrm>
          <a:off x="0" y="0"/>
          <a:ext cx="0" cy="0"/>
          <a:chOff x="0" y="0"/>
          <a:chExt cx="0" cy="0"/>
        </a:xfrm>
      </p:grpSpPr>
      <p:sp>
        <p:nvSpPr>
          <p:cNvPr id="127" name="Google Shape;127;p5:notes">
            <a:extLst>
              <a:ext uri="{FF2B5EF4-FFF2-40B4-BE49-F238E27FC236}">
                <a16:creationId xmlns:a16="http://schemas.microsoft.com/office/drawing/2014/main" id="{DA5E9A9F-51E3-DBBB-011B-E20BFFA1AD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p5:notes">
            <a:extLst>
              <a:ext uri="{FF2B5EF4-FFF2-40B4-BE49-F238E27FC236}">
                <a16:creationId xmlns:a16="http://schemas.microsoft.com/office/drawing/2014/main" id="{6A2AF9DC-44FB-3D34-3DFB-4B3EBB45CA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47472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35" name="Google Shape;13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A789FF06-F9FE-49F1-94CD-69A941BB1AAA}"/>
            </a:ext>
          </a:extLst>
        </p:cNvPr>
        <p:cNvGrpSpPr/>
        <p:nvPr/>
      </p:nvGrpSpPr>
      <p:grpSpPr>
        <a:xfrm>
          <a:off x="0" y="0"/>
          <a:ext cx="0" cy="0"/>
          <a:chOff x="0" y="0"/>
          <a:chExt cx="0" cy="0"/>
        </a:xfrm>
      </p:grpSpPr>
      <p:sp>
        <p:nvSpPr>
          <p:cNvPr id="134" name="Google Shape;134;p6:notes">
            <a:extLst>
              <a:ext uri="{FF2B5EF4-FFF2-40B4-BE49-F238E27FC236}">
                <a16:creationId xmlns:a16="http://schemas.microsoft.com/office/drawing/2014/main" id="{BF9F7B04-1AEA-D5E9-4863-B4263BC1BA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35" name="Google Shape;135;p6:notes">
            <a:extLst>
              <a:ext uri="{FF2B5EF4-FFF2-40B4-BE49-F238E27FC236}">
                <a16:creationId xmlns:a16="http://schemas.microsoft.com/office/drawing/2014/main" id="{91D875FF-70E0-B215-03FE-77D5876CA3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25650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41" name="Google Shape;14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18648354-4A8E-94A9-5E50-25A06215AD0E}"/>
            </a:ext>
          </a:extLst>
        </p:cNvPr>
        <p:cNvGrpSpPr/>
        <p:nvPr/>
      </p:nvGrpSpPr>
      <p:grpSpPr>
        <a:xfrm>
          <a:off x="0" y="0"/>
          <a:ext cx="0" cy="0"/>
          <a:chOff x="0" y="0"/>
          <a:chExt cx="0" cy="0"/>
        </a:xfrm>
      </p:grpSpPr>
      <p:sp>
        <p:nvSpPr>
          <p:cNvPr id="140" name="Google Shape;140;p7:notes">
            <a:extLst>
              <a:ext uri="{FF2B5EF4-FFF2-40B4-BE49-F238E27FC236}">
                <a16:creationId xmlns:a16="http://schemas.microsoft.com/office/drawing/2014/main" id="{621063BC-8BE9-3CED-B863-F4A41AF74D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41" name="Google Shape;141;p7:notes">
            <a:extLst>
              <a:ext uri="{FF2B5EF4-FFF2-40B4-BE49-F238E27FC236}">
                <a16:creationId xmlns:a16="http://schemas.microsoft.com/office/drawing/2014/main" id="{B5965F47-5D74-FBFA-7246-A07F393FCDD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618738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EF63D3FB-7202-F875-6447-0D77F90C8B25}"/>
            </a:ext>
          </a:extLst>
        </p:cNvPr>
        <p:cNvGrpSpPr/>
        <p:nvPr/>
      </p:nvGrpSpPr>
      <p:grpSpPr>
        <a:xfrm>
          <a:off x="0" y="0"/>
          <a:ext cx="0" cy="0"/>
          <a:chOff x="0" y="0"/>
          <a:chExt cx="0" cy="0"/>
        </a:xfrm>
      </p:grpSpPr>
      <p:sp>
        <p:nvSpPr>
          <p:cNvPr id="140" name="Google Shape;140;p7:notes">
            <a:extLst>
              <a:ext uri="{FF2B5EF4-FFF2-40B4-BE49-F238E27FC236}">
                <a16:creationId xmlns:a16="http://schemas.microsoft.com/office/drawing/2014/main" id="{EC99B5EC-0EE0-E754-7581-596F4AAA1A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41" name="Google Shape;141;p7:notes">
            <a:extLst>
              <a:ext uri="{FF2B5EF4-FFF2-40B4-BE49-F238E27FC236}">
                <a16:creationId xmlns:a16="http://schemas.microsoft.com/office/drawing/2014/main" id="{6702A20B-956D-460D-4708-49A2E58937C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587871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48" name="Google Shape;14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53" name="Google Shape;15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453338C8-D201-F3D8-567C-730B0EDDE6A6}"/>
            </a:ext>
          </a:extLst>
        </p:cNvPr>
        <p:cNvGrpSpPr/>
        <p:nvPr/>
      </p:nvGrpSpPr>
      <p:grpSpPr>
        <a:xfrm>
          <a:off x="0" y="0"/>
          <a:ext cx="0" cy="0"/>
          <a:chOff x="0" y="0"/>
          <a:chExt cx="0" cy="0"/>
        </a:xfrm>
      </p:grpSpPr>
      <p:sp>
        <p:nvSpPr>
          <p:cNvPr id="152" name="Google Shape;152;p9:notes">
            <a:extLst>
              <a:ext uri="{FF2B5EF4-FFF2-40B4-BE49-F238E27FC236}">
                <a16:creationId xmlns:a16="http://schemas.microsoft.com/office/drawing/2014/main" id="{4584EAA0-9A74-2A40-4D99-1AAC739DE4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53" name="Google Shape;153;p9:notes">
            <a:extLst>
              <a:ext uri="{FF2B5EF4-FFF2-40B4-BE49-F238E27FC236}">
                <a16:creationId xmlns:a16="http://schemas.microsoft.com/office/drawing/2014/main" id="{19C9EED4-B3F7-FA4F-DFF2-7BFA7C5E4D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102021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5033E279-67A7-282C-A48D-A328B4CA3776}"/>
            </a:ext>
          </a:extLst>
        </p:cNvPr>
        <p:cNvGrpSpPr/>
        <p:nvPr/>
      </p:nvGrpSpPr>
      <p:grpSpPr>
        <a:xfrm>
          <a:off x="0" y="0"/>
          <a:ext cx="0" cy="0"/>
          <a:chOff x="0" y="0"/>
          <a:chExt cx="0" cy="0"/>
        </a:xfrm>
      </p:grpSpPr>
      <p:sp>
        <p:nvSpPr>
          <p:cNvPr id="152" name="Google Shape;152;p9:notes">
            <a:extLst>
              <a:ext uri="{FF2B5EF4-FFF2-40B4-BE49-F238E27FC236}">
                <a16:creationId xmlns:a16="http://schemas.microsoft.com/office/drawing/2014/main" id="{ED3AAD5F-3BC9-E069-7140-C4FD158EF9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53" name="Google Shape;153;p9:notes">
            <a:extLst>
              <a:ext uri="{FF2B5EF4-FFF2-40B4-BE49-F238E27FC236}">
                <a16:creationId xmlns:a16="http://schemas.microsoft.com/office/drawing/2014/main" id="{92069AAD-C8F8-BB50-EA15-82174A321D9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491473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59" name="Google Shape;15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69313569-88E0-2DAA-A872-71B2519D2F5D}"/>
            </a:ext>
          </a:extLst>
        </p:cNvPr>
        <p:cNvGrpSpPr/>
        <p:nvPr/>
      </p:nvGrpSpPr>
      <p:grpSpPr>
        <a:xfrm>
          <a:off x="0" y="0"/>
          <a:ext cx="0" cy="0"/>
          <a:chOff x="0" y="0"/>
          <a:chExt cx="0" cy="0"/>
        </a:xfrm>
      </p:grpSpPr>
      <p:sp>
        <p:nvSpPr>
          <p:cNvPr id="158" name="Google Shape;158;p10:notes">
            <a:extLst>
              <a:ext uri="{FF2B5EF4-FFF2-40B4-BE49-F238E27FC236}">
                <a16:creationId xmlns:a16="http://schemas.microsoft.com/office/drawing/2014/main" id="{47B86F30-C6CC-947C-9158-9960C33760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59" name="Google Shape;159;p10:notes">
            <a:extLst>
              <a:ext uri="{FF2B5EF4-FFF2-40B4-BE49-F238E27FC236}">
                <a16:creationId xmlns:a16="http://schemas.microsoft.com/office/drawing/2014/main" id="{6E9D9109-3D43-E510-4F40-72D10C71E47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261738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a:extLst>
            <a:ext uri="{FF2B5EF4-FFF2-40B4-BE49-F238E27FC236}">
              <a16:creationId xmlns:a16="http://schemas.microsoft.com/office/drawing/2014/main" id="{5C227C3D-F895-EB9C-8DDA-DD3BE6E1455A}"/>
            </a:ext>
          </a:extLst>
        </p:cNvPr>
        <p:cNvGrpSpPr/>
        <p:nvPr/>
      </p:nvGrpSpPr>
      <p:grpSpPr>
        <a:xfrm>
          <a:off x="0" y="0"/>
          <a:ext cx="0" cy="0"/>
          <a:chOff x="0" y="0"/>
          <a:chExt cx="0" cy="0"/>
        </a:xfrm>
      </p:grpSpPr>
      <p:sp>
        <p:nvSpPr>
          <p:cNvPr id="164" name="Google Shape;164;p13:notes">
            <a:extLst>
              <a:ext uri="{FF2B5EF4-FFF2-40B4-BE49-F238E27FC236}">
                <a16:creationId xmlns:a16="http://schemas.microsoft.com/office/drawing/2014/main" id="{259A6316-FE16-A52C-C682-F2BEAEB0BD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5" name="Google Shape;165;p13:notes">
            <a:extLst>
              <a:ext uri="{FF2B5EF4-FFF2-40B4-BE49-F238E27FC236}">
                <a16:creationId xmlns:a16="http://schemas.microsoft.com/office/drawing/2014/main" id="{AEDAD024-CC57-4DCC-AB2F-2D860728851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296807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a:extLst>
            <a:ext uri="{FF2B5EF4-FFF2-40B4-BE49-F238E27FC236}">
              <a16:creationId xmlns:a16="http://schemas.microsoft.com/office/drawing/2014/main" id="{BE654A5A-8AF5-60AA-602B-A3B0E178A6DB}"/>
            </a:ext>
          </a:extLst>
        </p:cNvPr>
        <p:cNvGrpSpPr/>
        <p:nvPr/>
      </p:nvGrpSpPr>
      <p:grpSpPr>
        <a:xfrm>
          <a:off x="0" y="0"/>
          <a:ext cx="0" cy="0"/>
          <a:chOff x="0" y="0"/>
          <a:chExt cx="0" cy="0"/>
        </a:xfrm>
      </p:grpSpPr>
      <p:sp>
        <p:nvSpPr>
          <p:cNvPr id="164" name="Google Shape;164;p13:notes">
            <a:extLst>
              <a:ext uri="{FF2B5EF4-FFF2-40B4-BE49-F238E27FC236}">
                <a16:creationId xmlns:a16="http://schemas.microsoft.com/office/drawing/2014/main" id="{F6DA2E20-5669-1EB4-7F4B-13C865A5DD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5" name="Google Shape;165;p13:notes">
            <a:extLst>
              <a:ext uri="{FF2B5EF4-FFF2-40B4-BE49-F238E27FC236}">
                <a16:creationId xmlns:a16="http://schemas.microsoft.com/office/drawing/2014/main" id="{95729718-B090-4CFA-93A0-F28CEFB7B2E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464872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a:extLst>
            <a:ext uri="{FF2B5EF4-FFF2-40B4-BE49-F238E27FC236}">
              <a16:creationId xmlns:a16="http://schemas.microsoft.com/office/drawing/2014/main" id="{127C74CF-A648-EDB9-5A1B-4F8E2E2E6CD9}"/>
            </a:ext>
          </a:extLst>
        </p:cNvPr>
        <p:cNvGrpSpPr/>
        <p:nvPr/>
      </p:nvGrpSpPr>
      <p:grpSpPr>
        <a:xfrm>
          <a:off x="0" y="0"/>
          <a:ext cx="0" cy="0"/>
          <a:chOff x="0" y="0"/>
          <a:chExt cx="0" cy="0"/>
        </a:xfrm>
      </p:grpSpPr>
      <p:sp>
        <p:nvSpPr>
          <p:cNvPr id="164" name="Google Shape;164;p13:notes">
            <a:extLst>
              <a:ext uri="{FF2B5EF4-FFF2-40B4-BE49-F238E27FC236}">
                <a16:creationId xmlns:a16="http://schemas.microsoft.com/office/drawing/2014/main" id="{EF1B5645-F769-90EC-030A-8ECB1A9CFE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5" name="Google Shape;165;p13:notes">
            <a:extLst>
              <a:ext uri="{FF2B5EF4-FFF2-40B4-BE49-F238E27FC236}">
                <a16:creationId xmlns:a16="http://schemas.microsoft.com/office/drawing/2014/main" id="{B46BAC3B-FA10-BC0B-FB79-8B9DDFAEE6D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005240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8" name="Google Shape;178;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21</a:t>
            </a:fld>
            <a:endParaRPr sz="1200" b="0" i="0" u="none" strike="noStrike" cap="none">
              <a:solidFill>
                <a:schemeClr val="dk1"/>
              </a:solidFill>
              <a:latin typeface="Calibri"/>
              <a:ea typeface="Calibri"/>
              <a:cs typeface="Calibri"/>
              <a:sym typeface="Calibri"/>
            </a:endParaRPr>
          </a:p>
        </p:txBody>
      </p:sp>
      <p:sp>
        <p:nvSpPr>
          <p:cNvPr id="179" name="Google Shape;179;p15: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17"/>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6" name="Google Shape;16;p17"/>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1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 name="Google Shape;19;p18"/>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20" name="Google Shape;20;p1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p2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p2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p22"/>
          <p:cNvGraphicFramePr/>
          <p:nvPr/>
        </p:nvGraphicFramePr>
        <p:xfrm>
          <a:off x="201942" y="833662"/>
          <a:ext cx="3000000" cy="3000000"/>
        </p:xfrm>
        <a:graphic>
          <a:graphicData uri="http://schemas.openxmlformats.org/drawingml/2006/table">
            <a:tbl>
              <a:tblPr firstRow="1" bandRow="1">
                <a:noFill/>
                <a:tableStyleId>{C1FB5A6A-6A5D-45A8-83F2-B5AB23CB960B}</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p2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2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p2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2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p2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24"/>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p2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25"/>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p2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2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2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p2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2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p2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2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p28"/>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p28"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50" name="Google Shape;50;p28"/>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p28"/>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p28"/>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62"/>
        <p:cNvGrpSpPr/>
        <p:nvPr/>
      </p:nvGrpSpPr>
      <p:grpSpPr>
        <a:xfrm>
          <a:off x="0" y="0"/>
          <a:ext cx="0" cy="0"/>
          <a:chOff x="0" y="0"/>
          <a:chExt cx="0" cy="0"/>
        </a:xfrm>
      </p:grpSpPr>
      <p:sp>
        <p:nvSpPr>
          <p:cNvPr id="63" name="Google Shape;63;p20"/>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64" name="Google Shape;64;p20"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65" name="Google Shape;65;p20"/>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66" name="Google Shape;66;p20"/>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67" name="Google Shape;67;p20"/>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8"/>
        <p:cNvGrpSpPr/>
        <p:nvPr/>
      </p:nvGrpSpPr>
      <p:grpSpPr>
        <a:xfrm>
          <a:off x="0" y="0"/>
          <a:ext cx="0" cy="0"/>
          <a:chOff x="0" y="0"/>
          <a:chExt cx="0" cy="0"/>
        </a:xfrm>
      </p:grpSpPr>
      <p:sp>
        <p:nvSpPr>
          <p:cNvPr id="69" name="Google Shape;69;p29"/>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70" name="Google Shape;70;p29"/>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1"/>
        <p:cNvGrpSpPr/>
        <p:nvPr/>
      </p:nvGrpSpPr>
      <p:grpSpPr>
        <a:xfrm>
          <a:off x="0" y="0"/>
          <a:ext cx="0" cy="0"/>
          <a:chOff x="0" y="0"/>
          <a:chExt cx="0" cy="0"/>
        </a:xfrm>
      </p:grpSpPr>
      <p:sp>
        <p:nvSpPr>
          <p:cNvPr id="72" name="Google Shape;72;p30"/>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73" name="Google Shape;73;p3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4"/>
        <p:cNvGrpSpPr/>
        <p:nvPr/>
      </p:nvGrpSpPr>
      <p:grpSpPr>
        <a:xfrm>
          <a:off x="0" y="0"/>
          <a:ext cx="0" cy="0"/>
          <a:chOff x="0" y="0"/>
          <a:chExt cx="0" cy="0"/>
        </a:xfrm>
      </p:grpSpPr>
      <p:sp>
        <p:nvSpPr>
          <p:cNvPr id="75" name="Google Shape;75;p3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6" name="Google Shape;76;p31"/>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77" name="Google Shape;77;p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78"/>
        <p:cNvGrpSpPr/>
        <p:nvPr/>
      </p:nvGrpSpPr>
      <p:grpSpPr>
        <a:xfrm>
          <a:off x="0" y="0"/>
          <a:ext cx="0" cy="0"/>
          <a:chOff x="0" y="0"/>
          <a:chExt cx="0" cy="0"/>
        </a:xfrm>
      </p:grpSpPr>
      <p:sp>
        <p:nvSpPr>
          <p:cNvPr id="79" name="Google Shape;79;p3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80" name="Google Shape;80;p32"/>
          <p:cNvGraphicFramePr/>
          <p:nvPr/>
        </p:nvGraphicFramePr>
        <p:xfrm>
          <a:off x="201942" y="833662"/>
          <a:ext cx="3000000" cy="3000000"/>
        </p:xfrm>
        <a:graphic>
          <a:graphicData uri="http://schemas.openxmlformats.org/drawingml/2006/table">
            <a:tbl>
              <a:tblPr firstRow="1" bandRow="1">
                <a:noFill/>
                <a:tableStyleId>{C1FB5A6A-6A5D-45A8-83F2-B5AB23CB960B}</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81" name="Google Shape;81;p3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2"/>
        <p:cNvGrpSpPr/>
        <p:nvPr/>
      </p:nvGrpSpPr>
      <p:grpSpPr>
        <a:xfrm>
          <a:off x="0" y="0"/>
          <a:ext cx="0" cy="0"/>
          <a:chOff x="0" y="0"/>
          <a:chExt cx="0" cy="0"/>
        </a:xfrm>
      </p:grpSpPr>
      <p:sp>
        <p:nvSpPr>
          <p:cNvPr id="83" name="Google Shape;83;p3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4" name="Google Shape;84;p3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5" name="Google Shape;85;p3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6" name="Google Shape;86;p3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
        <p:cNvGrpSpPr/>
        <p:nvPr/>
      </p:nvGrpSpPr>
      <p:grpSpPr>
        <a:xfrm>
          <a:off x="0" y="0"/>
          <a:ext cx="0" cy="0"/>
          <a:chOff x="0" y="0"/>
          <a:chExt cx="0" cy="0"/>
        </a:xfrm>
      </p:grpSpPr>
      <p:sp>
        <p:nvSpPr>
          <p:cNvPr id="88" name="Google Shape;88;p34"/>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9" name="Google Shape;89;p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0"/>
        <p:cNvGrpSpPr/>
        <p:nvPr/>
      </p:nvGrpSpPr>
      <p:grpSpPr>
        <a:xfrm>
          <a:off x="0" y="0"/>
          <a:ext cx="0" cy="0"/>
          <a:chOff x="0" y="0"/>
          <a:chExt cx="0" cy="0"/>
        </a:xfrm>
      </p:grpSpPr>
      <p:sp>
        <p:nvSpPr>
          <p:cNvPr id="91" name="Google Shape;91;p35"/>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92" name="Google Shape;92;p3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sp>
        <p:nvSpPr>
          <p:cNvPr id="94" name="Google Shape;94;p3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3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6" name="Google Shape;96;p3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7" name="Google Shape;97;p3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98" name="Google Shape;98;p3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p3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6"/>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p16"/>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p16"/>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p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 name="Google Shape;10;p16"/>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1" name="Google Shape;11;p16"/>
          <p:cNvGrpSpPr/>
          <p:nvPr/>
        </p:nvGrpSpPr>
        <p:grpSpPr>
          <a:xfrm>
            <a:off x="6593" y="10"/>
            <a:ext cx="175500" cy="709221"/>
            <a:chOff x="6593" y="10"/>
            <a:chExt cx="175500" cy="709221"/>
          </a:xfrm>
        </p:grpSpPr>
        <p:sp>
          <p:nvSpPr>
            <p:cNvPr id="12" name="Google Shape;12;p16"/>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6"/>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3"/>
        <p:cNvGrpSpPr/>
        <p:nvPr/>
      </p:nvGrpSpPr>
      <p:grpSpPr>
        <a:xfrm>
          <a:off x="0" y="0"/>
          <a:ext cx="0" cy="0"/>
          <a:chOff x="0" y="0"/>
          <a:chExt cx="0" cy="0"/>
        </a:xfrm>
      </p:grpSpPr>
      <p:sp>
        <p:nvSpPr>
          <p:cNvPr id="54" name="Google Shape;54;p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55" name="Google Shape;55;p19"/>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6" name="Google Shape;56;p19"/>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7" name="Google Shape;57;p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8" name="Google Shape;58;p19"/>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59" name="Google Shape;59;p19"/>
          <p:cNvGrpSpPr/>
          <p:nvPr/>
        </p:nvGrpSpPr>
        <p:grpSpPr>
          <a:xfrm>
            <a:off x="6593" y="10"/>
            <a:ext cx="175500" cy="709221"/>
            <a:chOff x="6593" y="10"/>
            <a:chExt cx="175500" cy="709221"/>
          </a:xfrm>
        </p:grpSpPr>
        <p:sp>
          <p:nvSpPr>
            <p:cNvPr id="60" name="Google Shape;60;p19"/>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19"/>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mc:AlternateContent xmlns:mc="http://schemas.openxmlformats.org/markup-compatibility/2006" xmlns:p14="http://schemas.microsoft.com/office/powerpoint/2010/main">
    <mc:Choice Requires="p14">
      <p:transition p14:dur="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txBox="1">
            <a:spLocks noGrp="1"/>
          </p:cNvSpPr>
          <p:nvPr>
            <p:ph type="ctrTitle"/>
          </p:nvPr>
        </p:nvSpPr>
        <p:spPr>
          <a:xfrm>
            <a:off x="1158150" y="1412050"/>
            <a:ext cx="6827700" cy="581700"/>
          </a:xfrm>
          <a:prstGeom prst="rect">
            <a:avLst/>
          </a:prstGeom>
          <a:noFill/>
          <a:ln>
            <a:noFill/>
          </a:ln>
        </p:spPr>
        <p:txBody>
          <a:bodyPr spcFirstLastPara="1" wrap="square" lIns="91425" tIns="91425" rIns="91425" bIns="91425" anchor="b" anchorCtr="0">
            <a:noAutofit/>
          </a:bodyPr>
          <a:lstStyle/>
          <a:p>
            <a:pPr lvl="0"/>
            <a:r>
              <a:rPr lang="en-US" sz="3200" b="0" dirty="0"/>
              <a:t>Wind Turbine Failure Detection</a:t>
            </a:r>
            <a:endParaRPr sz="3200" dirty="0"/>
          </a:p>
        </p:txBody>
      </p:sp>
      <p:sp>
        <p:nvSpPr>
          <p:cNvPr id="106" name="Google Shape;106;p1"/>
          <p:cNvSpPr txBox="1">
            <a:spLocks noGrp="1"/>
          </p:cNvSpPr>
          <p:nvPr>
            <p:ph type="ctrTitle"/>
          </p:nvPr>
        </p:nvSpPr>
        <p:spPr>
          <a:xfrm>
            <a:off x="1158150" y="2651451"/>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2400" b="0" dirty="0"/>
              <a:t>Project 1 - </a:t>
            </a:r>
            <a:r>
              <a:rPr lang="en-US" sz="2400" b="0" dirty="0"/>
              <a:t>Post Graduate Program in Artificial Intelligence and Machine Learning: Business Applications</a:t>
            </a:r>
            <a:endParaRPr sz="2400" b="0" dirty="0"/>
          </a:p>
        </p:txBody>
      </p:sp>
      <p:sp>
        <p:nvSpPr>
          <p:cNvPr id="107" name="Google Shape;107;p1"/>
          <p:cNvSpPr txBox="1">
            <a:spLocks noGrp="1"/>
          </p:cNvSpPr>
          <p:nvPr>
            <p:ph type="ctrTitle"/>
          </p:nvPr>
        </p:nvSpPr>
        <p:spPr>
          <a:xfrm>
            <a:off x="1205251" y="3278385"/>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1600" b="0" dirty="0"/>
              <a:t>08/25/26</a:t>
            </a:r>
            <a:endParaRPr sz="16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Contents / Agenda</a:t>
            </a:r>
            <a:endParaRPr>
              <a:solidFill>
                <a:srgbClr val="000000"/>
              </a:solidFill>
            </a:endParaRPr>
          </a:p>
        </p:txBody>
      </p:sp>
      <p:sp>
        <p:nvSpPr>
          <p:cNvPr id="113" name="Google Shape;113;p2"/>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r>
              <a:rPr lang="en" sz="1400" dirty="0">
                <a:solidFill>
                  <a:srgbClr val="000000"/>
                </a:solidFill>
              </a:rPr>
              <a:t>Executive Summary </a:t>
            </a:r>
            <a:endParaRPr sz="1400" dirty="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dirty="0">
                <a:solidFill>
                  <a:srgbClr val="000000"/>
                </a:solidFill>
              </a:rPr>
              <a:t>Business Problem Overview and Solution Approach</a:t>
            </a:r>
            <a:endParaRPr sz="1400" dirty="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dirty="0">
                <a:solidFill>
                  <a:srgbClr val="000000"/>
                </a:solidFill>
              </a:rPr>
              <a:t>EDA Results</a:t>
            </a:r>
            <a:endParaRPr sz="1400" dirty="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dirty="0">
                <a:solidFill>
                  <a:srgbClr val="000000"/>
                </a:solidFill>
              </a:rPr>
              <a:t>Data Preprocessing </a:t>
            </a:r>
            <a:endParaRPr sz="1400" dirty="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dirty="0">
                <a:solidFill>
                  <a:srgbClr val="000000"/>
                </a:solidFill>
              </a:rPr>
              <a:t>Model Performance Summary</a:t>
            </a:r>
            <a:endParaRPr sz="1400" dirty="0">
              <a:solidFill>
                <a:srgbClr val="000000"/>
              </a:solidFill>
            </a:endParaRPr>
          </a:p>
          <a:p>
            <a:pPr marL="457200" lvl="0" indent="-317500" algn="l" rtl="0">
              <a:lnSpc>
                <a:spcPct val="115000"/>
              </a:lnSpc>
              <a:spcBef>
                <a:spcPts val="1000"/>
              </a:spcBef>
              <a:spcAft>
                <a:spcPts val="1000"/>
              </a:spcAft>
              <a:buClr>
                <a:srgbClr val="000000"/>
              </a:buClr>
              <a:buSzPts val="1400"/>
              <a:buChar char="●"/>
            </a:pPr>
            <a:r>
              <a:rPr lang="en" sz="1400" dirty="0">
                <a:solidFill>
                  <a:srgbClr val="000000"/>
                </a:solidFill>
              </a:rPr>
              <a:t>Appendix</a:t>
            </a:r>
            <a:endParaRPr sz="1400" dirty="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Executive Summary </a:t>
            </a:r>
            <a:endParaRPr>
              <a:solidFill>
                <a:srgbClr val="000000"/>
              </a:solidFill>
            </a:endParaRPr>
          </a:p>
        </p:txBody>
      </p:sp>
      <p:sp>
        <p:nvSpPr>
          <p:cNvPr id="119" name="Google Shape;119;p3"/>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25450" indent="-285750">
              <a:spcBef>
                <a:spcPts val="1000"/>
              </a:spcBef>
              <a:spcAft>
                <a:spcPts val="1000"/>
              </a:spcAft>
              <a:buClr>
                <a:srgbClr val="000000"/>
              </a:buClr>
              <a:buSzPts val="1400"/>
            </a:pPr>
            <a:r>
              <a:rPr lang="en" sz="1400" dirty="0">
                <a:solidFill>
                  <a:srgbClr val="000000"/>
                </a:solidFill>
              </a:rPr>
              <a:t>Actionable Insights</a:t>
            </a:r>
          </a:p>
          <a:p>
            <a:pPr marL="882650" lvl="1" indent="-285750">
              <a:spcBef>
                <a:spcPts val="1000"/>
              </a:spcBef>
              <a:spcAft>
                <a:spcPts val="1000"/>
              </a:spcAft>
              <a:buClr>
                <a:srgbClr val="000000"/>
              </a:buClr>
              <a:buSzPts val="1400"/>
            </a:pPr>
            <a:r>
              <a:rPr lang="en" sz="1200" dirty="0">
                <a:solidFill>
                  <a:srgbClr val="000000"/>
                </a:solidFill>
              </a:rPr>
              <a:t>The failures in the dataset occuring later in the dataset so when we organize the data for training, validation, and testing we have a chance of overfitting and the traning going to well beucase it will rarely if ever fail. We will be sure to not to rely on accuracy as this is not a good metric for success in this project. Our primary focurs will be recall bec</a:t>
            </a:r>
            <a:r>
              <a:rPr lang="en-US" sz="1200" dirty="0">
                <a:solidFill>
                  <a:srgbClr val="000000"/>
                </a:solidFill>
              </a:rPr>
              <a:t>au</a:t>
            </a:r>
            <a:r>
              <a:rPr lang="en" sz="1200" dirty="0">
                <a:solidFill>
                  <a:srgbClr val="000000"/>
                </a:solidFill>
              </a:rPr>
              <a:t>se missig a failure is detrimental and expenive and precision as well. </a:t>
            </a:r>
          </a:p>
          <a:p>
            <a:pPr lvl="0" indent="-317500">
              <a:spcBef>
                <a:spcPts val="1000"/>
              </a:spcBef>
              <a:spcAft>
                <a:spcPts val="1000"/>
              </a:spcAft>
              <a:buClr>
                <a:srgbClr val="000000"/>
              </a:buClr>
              <a:buSzPts val="1400"/>
            </a:pPr>
            <a:r>
              <a:rPr lang="en-US" sz="1400" dirty="0"/>
              <a:t>Recommendations</a:t>
            </a:r>
          </a:p>
          <a:p>
            <a:pPr lvl="1" indent="-317500">
              <a:spcBef>
                <a:spcPts val="1000"/>
              </a:spcBef>
              <a:spcAft>
                <a:spcPts val="1000"/>
              </a:spcAft>
              <a:buClr>
                <a:srgbClr val="000000"/>
              </a:buClr>
              <a:buSzPts val="1400"/>
            </a:pPr>
            <a:r>
              <a:rPr lang="en-US" sz="1200" dirty="0"/>
              <a:t>Aeolus Renewables should keep their schedule for monitoring issues around the clock through their SCADA system. But they need to change the way that they review info. In our most efficient model (XGBoost) is had a recall value of 85% meaning of the actual failures it missed 15% of them. The XGBoost model will be good for fault detection but according to the Precision value of 57.7% means that a little under half of the positives are actually false positives</a:t>
            </a:r>
            <a:endParaRPr sz="1200" dirty="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Business Problem Overview and Solution Approach</a:t>
            </a:r>
            <a:endParaRPr dirty="0">
              <a:solidFill>
                <a:srgbClr val="000000"/>
              </a:solidFill>
            </a:endParaRPr>
          </a:p>
        </p:txBody>
      </p:sp>
      <p:sp>
        <p:nvSpPr>
          <p:cNvPr id="125" name="Google Shape;125;p4"/>
          <p:cNvSpPr txBox="1">
            <a:spLocks noGrp="1"/>
          </p:cNvSpPr>
          <p:nvPr>
            <p:ph type="body" idx="1"/>
          </p:nvPr>
        </p:nvSpPr>
        <p:spPr>
          <a:xfrm>
            <a:off x="420850" y="779429"/>
            <a:ext cx="8203386" cy="3862421"/>
          </a:xfrm>
          <a:prstGeom prst="rect">
            <a:avLst/>
          </a:prstGeom>
          <a:noFill/>
          <a:ln>
            <a:noFill/>
          </a:ln>
        </p:spPr>
        <p:txBody>
          <a:bodyPr spcFirstLastPara="1" wrap="square" lIns="91425" tIns="91425" rIns="91425" bIns="91425" anchor="t" anchorCtr="0">
            <a:noAutofit/>
          </a:bodyPr>
          <a:lstStyle/>
          <a:p>
            <a:pPr marL="311150" indent="-171450">
              <a:spcBef>
                <a:spcPts val="1000"/>
              </a:spcBef>
              <a:spcAft>
                <a:spcPts val="1000"/>
              </a:spcAft>
              <a:buClr>
                <a:srgbClr val="000000"/>
              </a:buClr>
              <a:buSzPts val="1400"/>
            </a:pPr>
            <a:r>
              <a:rPr lang="en-US" sz="1400" dirty="0">
                <a:solidFill>
                  <a:srgbClr val="000000"/>
                </a:solidFill>
              </a:rPr>
              <a:t>Business Problem</a:t>
            </a:r>
          </a:p>
          <a:p>
            <a:pPr marL="768350" lvl="1" indent="-171450">
              <a:spcBef>
                <a:spcPts val="1000"/>
              </a:spcBef>
              <a:spcAft>
                <a:spcPts val="1000"/>
              </a:spcAft>
              <a:buClr>
                <a:srgbClr val="000000"/>
              </a:buClr>
              <a:buSzPts val="1400"/>
              <a:buFont typeface="Courier New" panose="02070309020205020404" pitchFamily="49" charset="0"/>
              <a:buChar char="o"/>
            </a:pPr>
            <a:r>
              <a:rPr lang="en-US" sz="1000" dirty="0">
                <a:solidFill>
                  <a:srgbClr val="000000"/>
                </a:solidFill>
              </a:rPr>
              <a:t>Aeoulous Renewables is an independent power producer operating a fleet of turbines. The company sells the electricity its turbines produce through long term power purchase agreements. The meaning issue is failure recognition, the O&amp;M organization that monitors the fleet of turbines around the clock are reacting to major faults as opposed to repairing it before the damage is classified as catastrophic. Catastrophic failures are not only expensive to repair but the more time a turbine is down is less the energy that Aeoulous Renewables is able to sell off. </a:t>
            </a:r>
          </a:p>
          <a:p>
            <a:pPr marL="311150" indent="-171450">
              <a:spcBef>
                <a:spcPts val="1000"/>
              </a:spcBef>
              <a:spcAft>
                <a:spcPts val="1000"/>
              </a:spcAft>
              <a:buClr>
                <a:srgbClr val="000000"/>
              </a:buClr>
              <a:buSzPts val="1400"/>
            </a:pPr>
            <a:r>
              <a:rPr lang="en-US" sz="1400" dirty="0">
                <a:solidFill>
                  <a:srgbClr val="000000"/>
                </a:solidFill>
              </a:rPr>
              <a:t>Solution Approach</a:t>
            </a:r>
          </a:p>
          <a:p>
            <a:pPr marL="768350" lvl="1" indent="-171450">
              <a:spcBef>
                <a:spcPts val="1000"/>
              </a:spcBef>
              <a:spcAft>
                <a:spcPts val="1000"/>
              </a:spcAft>
              <a:buClr>
                <a:srgbClr val="000000"/>
              </a:buClr>
              <a:buSzPts val="1400"/>
            </a:pPr>
            <a:r>
              <a:rPr lang="en-US" sz="1200" dirty="0">
                <a:solidFill>
                  <a:srgbClr val="000000"/>
                </a:solidFill>
              </a:rPr>
              <a:t>Build machine learning models and evaluate which model has the best performance so that it can act as drivetrain condition classifier that read each turbine feature and label it as “fault” or “normal”.</a:t>
            </a:r>
          </a:p>
          <a:p>
            <a:pPr marL="768350" lvl="1" indent="-171450">
              <a:spcBef>
                <a:spcPts val="1000"/>
              </a:spcBef>
              <a:spcAft>
                <a:spcPts val="1000"/>
              </a:spcAft>
              <a:buClr>
                <a:srgbClr val="000000"/>
              </a:buClr>
              <a:buSzPts val="1400"/>
            </a:pPr>
            <a:r>
              <a:rPr lang="en-US" sz="1200" dirty="0">
                <a:solidFill>
                  <a:srgbClr val="000000"/>
                </a:solidFill>
              </a:rPr>
              <a:t>The condition classifier will allow the fleet to distinguish a fault driven drivetrain versus a normal operating noise. Thus, allowing the fleet to catch faults while they are present but not yet severe enough to trigger a catastrophic alarm. </a:t>
            </a:r>
          </a:p>
          <a:p>
            <a:pPr marL="768350" lvl="1" indent="-171450">
              <a:spcBef>
                <a:spcPts val="1000"/>
              </a:spcBef>
              <a:spcAft>
                <a:spcPts val="1000"/>
              </a:spcAft>
              <a:buClr>
                <a:srgbClr val="000000"/>
              </a:buClr>
              <a:buSzPts val="1400"/>
            </a:pPr>
            <a:endParaRPr lang="en-US" sz="1000" dirty="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5"/>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EDA Results</a:t>
            </a:r>
            <a:endParaRPr>
              <a:solidFill>
                <a:srgbClr val="000000"/>
              </a:solidFill>
            </a:endParaRPr>
          </a:p>
        </p:txBody>
      </p:sp>
      <p:sp>
        <p:nvSpPr>
          <p:cNvPr id="131" name="Google Shape;131;p5"/>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171450" indent="-171450">
              <a:spcBef>
                <a:spcPts val="1000"/>
              </a:spcBef>
              <a:spcAft>
                <a:spcPts val="1000"/>
              </a:spcAft>
              <a:buSzPts val="1500"/>
            </a:pPr>
            <a:r>
              <a:rPr lang="en-US" sz="1400" dirty="0">
                <a:solidFill>
                  <a:srgbClr val="000000"/>
                </a:solidFill>
              </a:rPr>
              <a:t>Failure bivariate analysis</a:t>
            </a:r>
          </a:p>
          <a:p>
            <a:pPr marL="628650" lvl="1" indent="-171450">
              <a:spcBef>
                <a:spcPts val="1000"/>
              </a:spcBef>
              <a:spcAft>
                <a:spcPts val="1000"/>
              </a:spcAft>
              <a:buSzPts val="1500"/>
            </a:pPr>
            <a:r>
              <a:rPr lang="en-US" sz="1200" dirty="0">
                <a:solidFill>
                  <a:srgbClr val="000000"/>
                </a:solidFill>
              </a:rPr>
              <a:t>Fault frequency increases later in the observed period. This supports splitting the data chronologically into training, validation, and testing sets to evaluate how well the model performs on later observations. </a:t>
            </a:r>
            <a:r>
              <a:rPr lang="en-US" sz="1200" b="1" dirty="0">
                <a:solidFill>
                  <a:srgbClr val="000000"/>
                </a:solidFill>
              </a:rPr>
              <a:t>(Figure 1)</a:t>
            </a:r>
          </a:p>
          <a:p>
            <a:pPr marL="171450" indent="-171450">
              <a:spcBef>
                <a:spcPts val="1000"/>
              </a:spcBef>
              <a:spcAft>
                <a:spcPts val="1000"/>
              </a:spcAft>
            </a:pPr>
            <a:r>
              <a:rPr lang="en-US" sz="1400" dirty="0">
                <a:solidFill>
                  <a:srgbClr val="000000"/>
                </a:solidFill>
              </a:rPr>
              <a:t>drivetrain_vibration_rms_mmps vs failure bivariate analysis</a:t>
            </a:r>
          </a:p>
          <a:p>
            <a:pPr marL="628650" lvl="1" indent="-171450">
              <a:spcBef>
                <a:spcPts val="1000"/>
              </a:spcBef>
              <a:spcAft>
                <a:spcPts val="1000"/>
              </a:spcAft>
            </a:pPr>
            <a:r>
              <a:rPr lang="en-US" sz="1200" dirty="0">
                <a:solidFill>
                  <a:srgbClr val="000000"/>
                </a:solidFill>
              </a:rPr>
              <a:t>Power output rises with wind speed, then plateaus and drops sharply at very high speeds. This pattern suggests that turbines limit output or shut down to protect components from excessive mechanical stress. </a:t>
            </a:r>
            <a:r>
              <a:rPr lang="en-US" sz="1200" b="1" dirty="0">
                <a:solidFill>
                  <a:srgbClr val="000000"/>
                </a:solidFill>
              </a:rPr>
              <a:t>(Figure 2)</a:t>
            </a:r>
          </a:p>
          <a:p>
            <a:pPr marL="171450" indent="-171450">
              <a:spcBef>
                <a:spcPts val="1000"/>
              </a:spcBef>
              <a:spcAft>
                <a:spcPts val="1000"/>
              </a:spcAft>
            </a:pPr>
            <a:r>
              <a:rPr lang="en-US" sz="1400" dirty="0">
                <a:solidFill>
                  <a:srgbClr val="000000"/>
                </a:solidFill>
              </a:rPr>
              <a:t>wind_speed_mps vs power_output_kW bivariate analysis</a:t>
            </a:r>
          </a:p>
          <a:p>
            <a:pPr marL="628650" lvl="1" indent="-171450">
              <a:spcBef>
                <a:spcPts val="1000"/>
              </a:spcBef>
              <a:spcAft>
                <a:spcPts val="1000"/>
              </a:spcAft>
              <a:buSzPts val="1500"/>
            </a:pPr>
            <a:r>
              <a:rPr lang="en-US" sz="1200" dirty="0">
                <a:solidFill>
                  <a:srgbClr val="000000"/>
                </a:solidFill>
              </a:rPr>
              <a:t>Power output rises with wind speed, then plateaus and drops sharply at very high speeds. This pattern suggests that turbines limit output or shut down to protect components from excessive mechanical stress. </a:t>
            </a:r>
            <a:r>
              <a:rPr lang="en-US" sz="1200" b="1" dirty="0">
                <a:solidFill>
                  <a:srgbClr val="000000"/>
                </a:solidFill>
              </a:rPr>
              <a:t>(Figure 3)</a:t>
            </a:r>
          </a:p>
          <a:p>
            <a:pPr marL="457200" lvl="1" indent="0">
              <a:spcBef>
                <a:spcPts val="1000"/>
              </a:spcBef>
              <a:spcAft>
                <a:spcPts val="1000"/>
              </a:spcAft>
              <a:buNone/>
            </a:pPr>
            <a:endParaRPr lang="en-US" sz="1000" b="1" dirty="0">
              <a:solidFill>
                <a:srgbClr val="000000"/>
              </a:solidFill>
            </a:endParaRPr>
          </a:p>
        </p:txBody>
      </p:sp>
      <p:sp>
        <p:nvSpPr>
          <p:cNvPr id="132" name="Google Shape;132;p5"/>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dirty="0">
                <a:solidFill>
                  <a:schemeClr val="hlink"/>
                </a:solidFill>
                <a:latin typeface="Nunito"/>
                <a:ea typeface="Nunito"/>
                <a:cs typeface="Nunito"/>
                <a:sym typeface="Nunito"/>
                <a:hlinkClick r:id="rId3" action="ppaction://hlinksldjump"/>
              </a:rPr>
              <a:t>Link to Appendix slide on data background check</a:t>
            </a:r>
            <a:endParaRPr sz="1200" b="0" i="1" u="none" strike="noStrike" cap="none" dirty="0">
              <a:solidFill>
                <a:srgbClr val="666666"/>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EA3E992E-9981-2263-5004-B8C1532EDD9C}"/>
            </a:ext>
          </a:extLst>
        </p:cNvPr>
        <p:cNvGrpSpPr/>
        <p:nvPr/>
      </p:nvGrpSpPr>
      <p:grpSpPr>
        <a:xfrm>
          <a:off x="0" y="0"/>
          <a:ext cx="0" cy="0"/>
          <a:chOff x="0" y="0"/>
          <a:chExt cx="0" cy="0"/>
        </a:xfrm>
      </p:grpSpPr>
      <p:sp>
        <p:nvSpPr>
          <p:cNvPr id="130" name="Google Shape;130;p5">
            <a:extLst>
              <a:ext uri="{FF2B5EF4-FFF2-40B4-BE49-F238E27FC236}">
                <a16:creationId xmlns:a16="http://schemas.microsoft.com/office/drawing/2014/main" id="{7DDE570E-CCCE-4D40-4253-683E18A7AAD9}"/>
              </a:ext>
            </a:extLst>
          </p:cNvPr>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EDA Results</a:t>
            </a:r>
            <a:endParaRPr>
              <a:solidFill>
                <a:srgbClr val="000000"/>
              </a:solidFill>
            </a:endParaRPr>
          </a:p>
        </p:txBody>
      </p:sp>
      <p:sp>
        <p:nvSpPr>
          <p:cNvPr id="131" name="Google Shape;131;p5">
            <a:extLst>
              <a:ext uri="{FF2B5EF4-FFF2-40B4-BE49-F238E27FC236}">
                <a16:creationId xmlns:a16="http://schemas.microsoft.com/office/drawing/2014/main" id="{E06C40A0-A2E4-FADB-F1BA-CA43654BF4C7}"/>
              </a:ext>
            </a:extLst>
          </p:cNvPr>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171450" indent="-171450">
              <a:spcBef>
                <a:spcPts val="1000"/>
              </a:spcBef>
              <a:spcAft>
                <a:spcPts val="1000"/>
              </a:spcAft>
              <a:buSzPts val="1500"/>
            </a:pPr>
            <a:r>
              <a:rPr lang="en-US" sz="1400" dirty="0">
                <a:solidFill>
                  <a:srgbClr val="000000"/>
                </a:solidFill>
              </a:rPr>
              <a:t>Air_density_kgm3 univariate analysis</a:t>
            </a:r>
          </a:p>
          <a:p>
            <a:pPr marL="628650" lvl="1" indent="-171450">
              <a:spcBef>
                <a:spcPts val="1000"/>
              </a:spcBef>
              <a:spcAft>
                <a:spcPts val="1000"/>
              </a:spcAft>
              <a:buSzPts val="1500"/>
            </a:pPr>
            <a:r>
              <a:rPr lang="en-US" sz="1200" dirty="0">
                <a:solidFill>
                  <a:srgbClr val="000000"/>
                </a:solidFill>
              </a:rPr>
              <a:t>The histogram for this bivariate analysis is “bimodal” meaning that it has two peaks. The two peaks may suggest that there are two optimal air density conditions for the wind turbines </a:t>
            </a:r>
            <a:r>
              <a:rPr lang="en-US" sz="1200" b="1" dirty="0">
                <a:solidFill>
                  <a:srgbClr val="000000"/>
                </a:solidFill>
              </a:rPr>
              <a:t>(Figure 4)</a:t>
            </a:r>
          </a:p>
          <a:p>
            <a:pPr marL="171450" indent="-171450">
              <a:spcBef>
                <a:spcPts val="1000"/>
              </a:spcBef>
              <a:spcAft>
                <a:spcPts val="1000"/>
              </a:spcAft>
            </a:pPr>
            <a:r>
              <a:rPr lang="en-US" sz="1400" dirty="0">
                <a:solidFill>
                  <a:srgbClr val="000000"/>
                </a:solidFill>
              </a:rPr>
              <a:t>Drivetrain_vibration_rms_mmps univariate analysis</a:t>
            </a:r>
          </a:p>
          <a:p>
            <a:pPr marL="628650" lvl="1" indent="-171450">
              <a:spcBef>
                <a:spcPts val="1000"/>
              </a:spcBef>
              <a:spcAft>
                <a:spcPts val="1000"/>
              </a:spcAft>
            </a:pPr>
            <a:r>
              <a:rPr lang="en-US" sz="1200" dirty="0">
                <a:solidFill>
                  <a:srgbClr val="000000"/>
                </a:solidFill>
              </a:rPr>
              <a:t>The model is right skewed, this is an indication that higher vibration are less frequent but can lead to future failure in the dataset as vibration can cause the gears and generator to take on damage as time passes. </a:t>
            </a:r>
            <a:r>
              <a:rPr lang="en-US" sz="1200" b="1" dirty="0">
                <a:solidFill>
                  <a:srgbClr val="000000"/>
                </a:solidFill>
              </a:rPr>
              <a:t>(Figure 5)</a:t>
            </a:r>
          </a:p>
          <a:p>
            <a:pPr marL="171450" indent="-171450">
              <a:spcBef>
                <a:spcPts val="1000"/>
              </a:spcBef>
              <a:spcAft>
                <a:spcPts val="1000"/>
              </a:spcAft>
            </a:pPr>
            <a:r>
              <a:rPr lang="en-US" sz="1400" dirty="0">
                <a:solidFill>
                  <a:srgbClr val="000000"/>
                </a:solidFill>
              </a:rPr>
              <a:t>Numeric features multivariate analysis</a:t>
            </a:r>
          </a:p>
          <a:p>
            <a:pPr marL="628650" lvl="1" indent="-171450">
              <a:spcBef>
                <a:spcPts val="1000"/>
              </a:spcBef>
              <a:spcAft>
                <a:spcPts val="1000"/>
              </a:spcAft>
            </a:pPr>
            <a:r>
              <a:rPr lang="en-US" sz="1200" dirty="0">
                <a:solidFill>
                  <a:srgbClr val="000000"/>
                </a:solidFill>
              </a:rPr>
              <a:t>The model filters the dataset and only request numeric features. I created a correlation matrix to </a:t>
            </a:r>
            <a:r>
              <a:rPr lang="en-US" sz="1200" dirty="0" err="1">
                <a:solidFill>
                  <a:srgbClr val="000000"/>
                </a:solidFill>
              </a:rPr>
              <a:t>anylze</a:t>
            </a:r>
            <a:r>
              <a:rPr lang="en-US" sz="1200" dirty="0">
                <a:solidFill>
                  <a:srgbClr val="000000"/>
                </a:solidFill>
              </a:rPr>
              <a:t> the degree of similarity for all of my features. I found that rotor speed and generator speed have the highest correlation, this tracks because the two features fall under “Operational Control &amp; State”. </a:t>
            </a:r>
            <a:r>
              <a:rPr lang="en-US" sz="1200" b="1" dirty="0">
                <a:solidFill>
                  <a:srgbClr val="000000"/>
                </a:solidFill>
              </a:rPr>
              <a:t>(Figure 6)</a:t>
            </a:r>
          </a:p>
          <a:p>
            <a:pPr marL="628650" lvl="1" indent="-171450">
              <a:spcBef>
                <a:spcPts val="1000"/>
              </a:spcBef>
              <a:spcAft>
                <a:spcPts val="1000"/>
              </a:spcAft>
              <a:buSzPts val="1500"/>
            </a:pPr>
            <a:endParaRPr lang="en-US" sz="1200" dirty="0">
              <a:solidFill>
                <a:srgbClr val="000000"/>
              </a:solidFill>
            </a:endParaRPr>
          </a:p>
        </p:txBody>
      </p:sp>
      <p:sp>
        <p:nvSpPr>
          <p:cNvPr id="132" name="Google Shape;132;p5">
            <a:extLst>
              <a:ext uri="{FF2B5EF4-FFF2-40B4-BE49-F238E27FC236}">
                <a16:creationId xmlns:a16="http://schemas.microsoft.com/office/drawing/2014/main" id="{90339D89-6F32-1FEA-A8FB-F38FD794C282}"/>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dirty="0">
                <a:solidFill>
                  <a:schemeClr val="hlink"/>
                </a:solidFill>
                <a:latin typeface="Nunito"/>
                <a:ea typeface="Nunito"/>
                <a:cs typeface="Nunito"/>
                <a:sym typeface="Nunito"/>
                <a:hlinkClick r:id="rId3" action="ppaction://hlinksldjump"/>
              </a:rPr>
              <a:t>Link to Appendix slide on data background check</a:t>
            </a:r>
            <a:endParaRPr sz="1200" b="0" i="1" u="none" strike="noStrike" cap="none" dirty="0">
              <a:solidFill>
                <a:srgbClr val="666666"/>
              </a:solidFill>
              <a:latin typeface="Nunito"/>
              <a:ea typeface="Nunito"/>
              <a:cs typeface="Nunito"/>
              <a:sym typeface="Nunito"/>
            </a:endParaRPr>
          </a:p>
        </p:txBody>
      </p:sp>
    </p:spTree>
    <p:extLst>
      <p:ext uri="{BB962C8B-B14F-4D97-AF65-F5344CB8AC3E}">
        <p14:creationId xmlns:p14="http://schemas.microsoft.com/office/powerpoint/2010/main" val="896672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Preprocessing </a:t>
            </a:r>
            <a:endParaRPr>
              <a:solidFill>
                <a:srgbClr val="000000"/>
              </a:solidFill>
            </a:endParaRPr>
          </a:p>
        </p:txBody>
      </p:sp>
      <p:sp>
        <p:nvSpPr>
          <p:cNvPr id="138" name="Google Shape;138;p6"/>
          <p:cNvSpPr txBox="1">
            <a:spLocks noGrp="1"/>
          </p:cNvSpPr>
          <p:nvPr>
            <p:ph type="body" idx="1"/>
          </p:nvPr>
        </p:nvSpPr>
        <p:spPr>
          <a:xfrm>
            <a:off x="202550" y="861975"/>
            <a:ext cx="8629800" cy="4333977"/>
          </a:xfrm>
          <a:prstGeom prst="rect">
            <a:avLst/>
          </a:prstGeom>
          <a:noFill/>
          <a:ln>
            <a:noFill/>
          </a:ln>
        </p:spPr>
        <p:txBody>
          <a:bodyPr spcFirstLastPara="1" wrap="square" lIns="91425" tIns="91425" rIns="91425" bIns="91425" anchor="t" anchorCtr="0">
            <a:spAutoFit/>
          </a:bodyPr>
          <a:lstStyle/>
          <a:p>
            <a:pPr marL="285750" indent="-285750"/>
            <a:r>
              <a:rPr lang="en" sz="1400" dirty="0">
                <a:solidFill>
                  <a:srgbClr val="2D3B45"/>
                </a:solidFill>
                <a:highlight>
                  <a:srgbClr val="FFFFFF"/>
                </a:highlight>
              </a:rPr>
              <a:t>Duplicate Value Check</a:t>
            </a:r>
          </a:p>
          <a:p>
            <a:pPr lvl="1" indent="-317500">
              <a:spcBef>
                <a:spcPts val="1000"/>
              </a:spcBef>
              <a:buClr>
                <a:srgbClr val="2D3B45"/>
              </a:buClr>
              <a:buSzPts val="1400"/>
              <a:buFont typeface="Courier New" panose="02070309020205020404" pitchFamily="49" charset="0"/>
              <a:buChar char="o"/>
            </a:pPr>
            <a:r>
              <a:rPr lang="en" sz="1200" dirty="0">
                <a:solidFill>
                  <a:srgbClr val="2D3B45"/>
                </a:solidFill>
                <a:highlight>
                  <a:srgbClr val="FFFFFF"/>
                </a:highlight>
              </a:rPr>
              <a:t>During my obersation during my duplicates check there we no duplicates present in the dataset.</a:t>
            </a:r>
          </a:p>
          <a:p>
            <a:pPr lvl="1" indent="-317500">
              <a:spcBef>
                <a:spcPts val="1000"/>
              </a:spcBef>
              <a:buClr>
                <a:srgbClr val="2D3B45"/>
              </a:buClr>
              <a:buSzPts val="1400"/>
              <a:buFont typeface="Courier New" panose="02070309020205020404" pitchFamily="49" charset="0"/>
              <a:buChar char="o"/>
            </a:pPr>
            <a:r>
              <a:rPr lang="en" sz="1200" dirty="0">
                <a:solidFill>
                  <a:srgbClr val="2D3B45"/>
                </a:solidFill>
                <a:highlight>
                  <a:srgbClr val="FFFFFF"/>
                </a:highlight>
              </a:rPr>
              <a:t>T</a:t>
            </a:r>
            <a:r>
              <a:rPr lang="en-US" sz="1200" dirty="0">
                <a:solidFill>
                  <a:srgbClr val="2D3B45"/>
                </a:solidFill>
                <a:highlight>
                  <a:srgbClr val="FFFFFF"/>
                </a:highlight>
              </a:rPr>
              <a:t>h</a:t>
            </a:r>
            <a:r>
              <a:rPr lang="en" sz="1200" dirty="0">
                <a:solidFill>
                  <a:srgbClr val="2D3B45"/>
                </a:solidFill>
                <a:highlight>
                  <a:srgbClr val="FFFFFF"/>
                </a:highlight>
              </a:rPr>
              <a:t>e method utilized to check for duplicates was to gather the sum using the function below</a:t>
            </a:r>
          </a:p>
          <a:p>
            <a:pPr lvl="2" indent="-317500">
              <a:spcBef>
                <a:spcPts val="1000"/>
              </a:spcBef>
              <a:buClr>
                <a:srgbClr val="2D3B45"/>
              </a:buClr>
              <a:buSzPts val="1400"/>
              <a:buFont typeface="Wingdings" panose="05000000000000000000" pitchFamily="2" charset="2"/>
              <a:buChar char="§"/>
            </a:pPr>
            <a:r>
              <a:rPr lang="en-US" b="1" dirty="0"/>
              <a:t>data.duplicated().sum()</a:t>
            </a:r>
          </a:p>
          <a:p>
            <a:pPr lvl="2" indent="-317500">
              <a:spcBef>
                <a:spcPts val="1000"/>
              </a:spcBef>
              <a:buClr>
                <a:srgbClr val="2D3B45"/>
              </a:buClr>
              <a:buSzPts val="1400"/>
              <a:buFont typeface="Wingdings" panose="05000000000000000000" pitchFamily="2" charset="2"/>
              <a:buChar char="§"/>
            </a:pPr>
            <a:r>
              <a:rPr lang="en-US" dirty="0"/>
              <a:t>The result was 0, confirming no duplicate rows were present in the dataset. </a:t>
            </a:r>
          </a:p>
          <a:p>
            <a:pPr marL="457200" lvl="0" indent="-317500" algn="l" rtl="0">
              <a:lnSpc>
                <a:spcPct val="115000"/>
              </a:lnSpc>
              <a:spcBef>
                <a:spcPts val="1000"/>
              </a:spcBef>
              <a:spcAft>
                <a:spcPts val="0"/>
              </a:spcAft>
              <a:buClr>
                <a:srgbClr val="2D3B45"/>
              </a:buClr>
              <a:buSzPts val="1400"/>
              <a:buChar char="●"/>
            </a:pPr>
            <a:r>
              <a:rPr lang="en" sz="1400" dirty="0">
                <a:solidFill>
                  <a:srgbClr val="2D3B45"/>
                </a:solidFill>
                <a:highlight>
                  <a:srgbClr val="FFFFFF"/>
                </a:highlight>
              </a:rPr>
              <a:t>Missing Value Detection and Treatment</a:t>
            </a:r>
          </a:p>
          <a:p>
            <a:pPr lvl="1" indent="-317500">
              <a:spcBef>
                <a:spcPts val="1000"/>
              </a:spcBef>
              <a:buClr>
                <a:srgbClr val="2D3B45"/>
              </a:buClr>
              <a:buSzPts val="1400"/>
              <a:buFont typeface="Courier New" panose="02070309020205020404" pitchFamily="49" charset="0"/>
              <a:buChar char="o"/>
            </a:pPr>
            <a:r>
              <a:rPr lang="en" sz="1200" dirty="0">
                <a:solidFill>
                  <a:srgbClr val="2D3B45"/>
                </a:solidFill>
                <a:highlight>
                  <a:srgbClr val="FFFFFF"/>
                </a:highlight>
              </a:rPr>
              <a:t>While searching for missing values </a:t>
            </a:r>
            <a:r>
              <a:rPr lang="en-US" sz="1200" dirty="0">
                <a:solidFill>
                  <a:srgbClr val="2D3B45"/>
                </a:solidFill>
                <a:highlight>
                  <a:srgbClr val="FFFFFF"/>
                </a:highlight>
              </a:rPr>
              <a:t>I</a:t>
            </a:r>
            <a:r>
              <a:rPr lang="en" sz="1200" dirty="0">
                <a:solidFill>
                  <a:srgbClr val="2D3B45"/>
                </a:solidFill>
                <a:highlight>
                  <a:srgbClr val="FFFFFF"/>
                </a:highlight>
              </a:rPr>
              <a:t> first identifed the columns that had missng values using the code below</a:t>
            </a:r>
          </a:p>
          <a:p>
            <a:pPr lvl="2" indent="-317500">
              <a:spcBef>
                <a:spcPts val="1000"/>
              </a:spcBef>
              <a:buClr>
                <a:srgbClr val="2D3B45"/>
              </a:buClr>
              <a:buSzPts val="1400"/>
              <a:buFont typeface="Wingdings" panose="05000000000000000000" pitchFamily="2" charset="2"/>
              <a:buChar char="§"/>
            </a:pPr>
            <a:r>
              <a:rPr lang="en-US" b="1" dirty="0">
                <a:solidFill>
                  <a:srgbClr val="2D3B45"/>
                </a:solidFill>
                <a:highlight>
                  <a:srgbClr val="FFFFFF"/>
                </a:highlight>
              </a:rPr>
              <a:t>missing_summary = pd.DataFrame({"Missing Values": data.isna().sum()})</a:t>
            </a:r>
          </a:p>
          <a:p>
            <a:pPr lvl="2" indent="-317500">
              <a:spcBef>
                <a:spcPts val="1000"/>
              </a:spcBef>
              <a:buClr>
                <a:srgbClr val="2D3B45"/>
              </a:buClr>
              <a:buSzPts val="1400"/>
              <a:buFont typeface="Wingdings" panose="05000000000000000000" pitchFamily="2" charset="2"/>
              <a:buChar char="§"/>
            </a:pPr>
            <a:r>
              <a:rPr lang="en-US" dirty="0">
                <a:solidFill>
                  <a:srgbClr val="2D3B45"/>
                </a:solidFill>
                <a:highlight>
                  <a:srgbClr val="FFFFFF"/>
                </a:highlight>
              </a:rPr>
              <a:t>When the code executed, I noticed that the “gearbox_oit_temp_C”, “gearbox_bearing_temp_C, and the “enerator_bearing_temp_C” all had a significant amount of missing values throughout the dataset.</a:t>
            </a:r>
          </a:p>
          <a:p>
            <a:pPr lvl="2" indent="-317500">
              <a:spcBef>
                <a:spcPts val="1000"/>
              </a:spcBef>
              <a:buClr>
                <a:srgbClr val="2D3B45"/>
              </a:buClr>
              <a:buSzPts val="1400"/>
              <a:buFont typeface="Wingdings" panose="05000000000000000000" pitchFamily="2" charset="2"/>
              <a:buChar char="§"/>
            </a:pPr>
            <a:r>
              <a:rPr lang="en-US" dirty="0">
                <a:solidFill>
                  <a:srgbClr val="2D3B45"/>
                </a:solidFill>
                <a:highlight>
                  <a:srgbClr val="FFFFFF"/>
                </a:highlight>
              </a:rPr>
              <a:t>Replaced missing values with the training-data median because it is less affected by extreme readings than the mean.</a:t>
            </a:r>
          </a:p>
          <a:p>
            <a:pPr marL="0" lvl="0" indent="0" algn="l" rtl="0">
              <a:lnSpc>
                <a:spcPct val="115000"/>
              </a:lnSpc>
              <a:spcBef>
                <a:spcPts val="1000"/>
              </a:spcBef>
              <a:spcAft>
                <a:spcPts val="0"/>
              </a:spcAft>
              <a:buSzPts val="1500"/>
              <a:buNone/>
            </a:pPr>
            <a:endParaRPr lang="en-US" sz="1400" dirty="0">
              <a:solidFill>
                <a:srgbClr val="2D3B45"/>
              </a:solidFill>
              <a:highlight>
                <a:srgbClr val="FFFFFF"/>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09E8E65A-2E34-2132-9244-3581C7C59182}"/>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A1424F0D-CA05-826D-4DA8-12592B14342B}"/>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Preprocessing </a:t>
            </a:r>
            <a:endParaRPr>
              <a:solidFill>
                <a:srgbClr val="000000"/>
              </a:solidFill>
            </a:endParaRPr>
          </a:p>
        </p:txBody>
      </p:sp>
      <p:sp>
        <p:nvSpPr>
          <p:cNvPr id="138" name="Google Shape;138;p6">
            <a:extLst>
              <a:ext uri="{FF2B5EF4-FFF2-40B4-BE49-F238E27FC236}">
                <a16:creationId xmlns:a16="http://schemas.microsoft.com/office/drawing/2014/main" id="{8BC1E45E-DEB0-A88C-EFF8-6EC65BCBF87E}"/>
              </a:ext>
            </a:extLst>
          </p:cNvPr>
          <p:cNvSpPr txBox="1">
            <a:spLocks noGrp="1"/>
          </p:cNvSpPr>
          <p:nvPr>
            <p:ph type="body" idx="1"/>
          </p:nvPr>
        </p:nvSpPr>
        <p:spPr>
          <a:xfrm>
            <a:off x="202550" y="861975"/>
            <a:ext cx="8629800" cy="3696879"/>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1000"/>
              </a:spcBef>
              <a:spcAft>
                <a:spcPts val="0"/>
              </a:spcAft>
              <a:buClr>
                <a:srgbClr val="2D3B45"/>
              </a:buClr>
              <a:buSzPts val="1400"/>
              <a:buChar char="●"/>
            </a:pPr>
            <a:r>
              <a:rPr lang="en" sz="1400" dirty="0">
                <a:solidFill>
                  <a:srgbClr val="2D3B45"/>
                </a:solidFill>
                <a:highlight>
                  <a:srgbClr val="FFFFFF"/>
                </a:highlight>
              </a:rPr>
              <a:t>Feature Engineering</a:t>
            </a:r>
          </a:p>
          <a:p>
            <a:pPr lvl="1" indent="-317500">
              <a:spcBef>
                <a:spcPts val="1000"/>
              </a:spcBef>
              <a:buClr>
                <a:srgbClr val="2D3B45"/>
              </a:buClr>
              <a:buSzPts val="1400"/>
              <a:buFont typeface="Courier New" panose="02070309020205020404" pitchFamily="49" charset="0"/>
              <a:buChar char="o"/>
            </a:pPr>
            <a:r>
              <a:rPr lang="en" sz="1200" dirty="0">
                <a:solidFill>
                  <a:srgbClr val="2D3B45"/>
                </a:solidFill>
                <a:highlight>
                  <a:srgbClr val="FFFFFF"/>
                </a:highlight>
              </a:rPr>
              <a:t>I extracted the the hour of day and the day of the week from the “timestamp” column. </a:t>
            </a:r>
          </a:p>
          <a:p>
            <a:pPr lvl="1" indent="-317500">
              <a:spcBef>
                <a:spcPts val="1000"/>
              </a:spcBef>
              <a:buClr>
                <a:srgbClr val="2D3B45"/>
              </a:buClr>
              <a:buSzPts val="1400"/>
              <a:buFont typeface="Courier New" panose="02070309020205020404" pitchFamily="49" charset="0"/>
              <a:buChar char="o"/>
            </a:pPr>
            <a:r>
              <a:rPr lang="en" sz="1200" dirty="0">
                <a:solidFill>
                  <a:srgbClr val="2D3B45"/>
                </a:solidFill>
                <a:highlight>
                  <a:srgbClr val="FFFFFF"/>
                </a:highlight>
              </a:rPr>
              <a:t>T</a:t>
            </a:r>
            <a:r>
              <a:rPr lang="en-US" sz="1200" dirty="0">
                <a:solidFill>
                  <a:srgbClr val="2D3B45"/>
                </a:solidFill>
                <a:highlight>
                  <a:srgbClr val="FFFFFF"/>
                </a:highlight>
              </a:rPr>
              <a:t>h</a:t>
            </a:r>
            <a:r>
              <a:rPr lang="en" sz="1200" dirty="0">
                <a:solidFill>
                  <a:srgbClr val="2D3B45"/>
                </a:solidFill>
                <a:highlight>
                  <a:srgbClr val="FFFFFF"/>
                </a:highlight>
              </a:rPr>
              <a:t>e purpose of this is so the model can learn complex patterns across the timestamp feature.</a:t>
            </a:r>
            <a:endParaRPr sz="1200" dirty="0">
              <a:solidFill>
                <a:srgbClr val="2D3B45"/>
              </a:solidFill>
              <a:highlight>
                <a:srgbClr val="FFFFFF"/>
              </a:highlight>
            </a:endParaRPr>
          </a:p>
          <a:p>
            <a:pPr marL="457200" lvl="0" indent="-317500" algn="l" rtl="0">
              <a:lnSpc>
                <a:spcPct val="115000"/>
              </a:lnSpc>
              <a:spcBef>
                <a:spcPts val="1000"/>
              </a:spcBef>
              <a:spcAft>
                <a:spcPts val="0"/>
              </a:spcAft>
              <a:buClr>
                <a:srgbClr val="2D3B45"/>
              </a:buClr>
              <a:buSzPts val="1400"/>
              <a:buChar char="●"/>
            </a:pPr>
            <a:r>
              <a:rPr lang="en" sz="1400" dirty="0">
                <a:solidFill>
                  <a:srgbClr val="2D3B45"/>
                </a:solidFill>
                <a:highlight>
                  <a:srgbClr val="FFFFFF"/>
                </a:highlight>
              </a:rPr>
              <a:t>Data Preparation for Modeling</a:t>
            </a:r>
            <a:endParaRPr sz="1400" dirty="0">
              <a:solidFill>
                <a:srgbClr val="2D3B45"/>
              </a:solidFill>
              <a:highlight>
                <a:srgbClr val="FFFFFF"/>
              </a:highlight>
            </a:endParaRPr>
          </a:p>
          <a:p>
            <a:pPr marL="914400" lvl="1" indent="-317500" algn="l" rtl="0">
              <a:lnSpc>
                <a:spcPct val="115000"/>
              </a:lnSpc>
              <a:spcBef>
                <a:spcPts val="1000"/>
              </a:spcBef>
              <a:spcAft>
                <a:spcPts val="0"/>
              </a:spcAft>
              <a:buClr>
                <a:srgbClr val="2D3B45"/>
              </a:buClr>
              <a:buSzPts val="1400"/>
              <a:buChar char="○"/>
            </a:pPr>
            <a:r>
              <a:rPr lang="en-US" sz="1200" dirty="0">
                <a:solidFill>
                  <a:srgbClr val="2D3B45"/>
                </a:solidFill>
                <a:highlight>
                  <a:srgbClr val="FFFFFF"/>
                </a:highlight>
              </a:rPr>
              <a:t>Separated input features from the target variable, which is “failure”.</a:t>
            </a:r>
          </a:p>
          <a:p>
            <a:pPr marL="914400" lvl="1" indent="-317500" algn="l" rtl="0">
              <a:lnSpc>
                <a:spcPct val="115000"/>
              </a:lnSpc>
              <a:spcBef>
                <a:spcPts val="1000"/>
              </a:spcBef>
              <a:spcAft>
                <a:spcPts val="0"/>
              </a:spcAft>
              <a:buClr>
                <a:srgbClr val="2D3B45"/>
              </a:buClr>
              <a:buSzPts val="1400"/>
              <a:buChar char="○"/>
            </a:pPr>
            <a:r>
              <a:rPr lang="en-US" sz="1200" dirty="0">
                <a:solidFill>
                  <a:srgbClr val="2D3B45"/>
                </a:solidFill>
                <a:highlight>
                  <a:srgbClr val="FFFFFF"/>
                </a:highlight>
              </a:rPr>
              <a:t>Split data chronologically into </a:t>
            </a:r>
            <a:r>
              <a:rPr lang="en-US" sz="1200" b="1" dirty="0">
                <a:solidFill>
                  <a:srgbClr val="2D3B45"/>
                </a:solidFill>
                <a:highlight>
                  <a:srgbClr val="FFFFFF"/>
                </a:highlight>
              </a:rPr>
              <a:t>70% training, 15% validation, and 15% testing</a:t>
            </a:r>
            <a:r>
              <a:rPr lang="en-US" sz="1200" dirty="0">
                <a:solidFill>
                  <a:srgbClr val="2D3B45"/>
                </a:solidFill>
                <a:highlight>
                  <a:srgbClr val="FFFFFF"/>
                </a:highlight>
              </a:rPr>
              <a:t>.</a:t>
            </a:r>
          </a:p>
          <a:p>
            <a:pPr marL="914400" lvl="1" indent="-317500" algn="l" rtl="0">
              <a:lnSpc>
                <a:spcPct val="115000"/>
              </a:lnSpc>
              <a:spcBef>
                <a:spcPts val="1000"/>
              </a:spcBef>
              <a:spcAft>
                <a:spcPts val="0"/>
              </a:spcAft>
              <a:buClr>
                <a:srgbClr val="2D3B45"/>
              </a:buClr>
              <a:buSzPts val="1400"/>
              <a:buChar char="○"/>
            </a:pPr>
            <a:r>
              <a:rPr lang="en-US" sz="1200" dirty="0">
                <a:solidFill>
                  <a:srgbClr val="2D3B45"/>
                </a:solidFill>
                <a:highlight>
                  <a:srgbClr val="FFFFFF"/>
                </a:highlight>
              </a:rPr>
              <a:t>Filled missing values using training-set medians.</a:t>
            </a:r>
          </a:p>
          <a:p>
            <a:pPr marL="914400" lvl="1" indent="-317500" algn="l" rtl="0">
              <a:lnSpc>
                <a:spcPct val="115000"/>
              </a:lnSpc>
              <a:spcBef>
                <a:spcPts val="1000"/>
              </a:spcBef>
              <a:spcAft>
                <a:spcPts val="0"/>
              </a:spcAft>
              <a:buClr>
                <a:srgbClr val="2D3B45"/>
              </a:buClr>
              <a:buSzPts val="1400"/>
              <a:buChar char="○"/>
            </a:pPr>
            <a:r>
              <a:rPr lang="en-US" sz="1200" dirty="0">
                <a:solidFill>
                  <a:srgbClr val="2D3B45"/>
                </a:solidFill>
                <a:highlight>
                  <a:srgbClr val="FFFFFF"/>
                </a:highlight>
              </a:rPr>
              <a:t>Excluded timestamp, turbine ID, and wind-speed bins from model inputs.</a:t>
            </a:r>
          </a:p>
          <a:p>
            <a:pPr marL="0" lvl="0" indent="0" algn="l" rtl="0">
              <a:lnSpc>
                <a:spcPct val="115000"/>
              </a:lnSpc>
              <a:spcBef>
                <a:spcPts val="1000"/>
              </a:spcBef>
              <a:spcAft>
                <a:spcPts val="0"/>
              </a:spcAft>
              <a:buNone/>
            </a:pPr>
            <a:endParaRPr sz="1200" dirty="0">
              <a:solidFill>
                <a:srgbClr val="2D3B45"/>
              </a:solidFill>
              <a:highlight>
                <a:srgbClr val="FFFFFF"/>
              </a:highlight>
            </a:endParaRPr>
          </a:p>
          <a:p>
            <a:pPr marL="0" lvl="0" indent="0" algn="l" rtl="0">
              <a:lnSpc>
                <a:spcPct val="115000"/>
              </a:lnSpc>
              <a:spcBef>
                <a:spcPts val="1000"/>
              </a:spcBef>
              <a:spcAft>
                <a:spcPts val="0"/>
              </a:spcAft>
              <a:buSzPts val="1500"/>
              <a:buNone/>
            </a:pPr>
            <a:endParaRPr sz="1400" dirty="0">
              <a:solidFill>
                <a:srgbClr val="2D3B45"/>
              </a:solidFill>
              <a:highlight>
                <a:srgbClr val="FFFFFF"/>
              </a:highlight>
            </a:endParaRPr>
          </a:p>
        </p:txBody>
      </p:sp>
    </p:spTree>
    <p:extLst>
      <p:ext uri="{BB962C8B-B14F-4D97-AF65-F5344CB8AC3E}">
        <p14:creationId xmlns:p14="http://schemas.microsoft.com/office/powerpoint/2010/main" val="1493466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44" name="Google Shape;144;p7"/>
          <p:cNvSpPr txBox="1">
            <a:spLocks noGrp="1"/>
          </p:cNvSpPr>
          <p:nvPr>
            <p:ph type="body" idx="1"/>
          </p:nvPr>
        </p:nvSpPr>
        <p:spPr>
          <a:xfrm>
            <a:off x="147950" y="727535"/>
            <a:ext cx="8629800" cy="4027345"/>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rgbClr val="000000"/>
              </a:buClr>
              <a:buSzPts val="1400"/>
              <a:buChar char="●"/>
            </a:pPr>
            <a:r>
              <a:rPr lang="en" sz="1400" dirty="0">
                <a:solidFill>
                  <a:schemeClr val="dk1"/>
                </a:solidFill>
              </a:rPr>
              <a:t>Performance of the tuned models</a:t>
            </a:r>
            <a:endParaRPr lang="en-US" sz="1400" dirty="0">
              <a:solidFill>
                <a:schemeClr val="dk1"/>
              </a:solidFill>
            </a:endParaRPr>
          </a:p>
          <a:p>
            <a:pPr lvl="1" indent="-317500">
              <a:spcBef>
                <a:spcPts val="0"/>
              </a:spcBef>
              <a:buClr>
                <a:srgbClr val="000000"/>
              </a:buClr>
              <a:buSzPts val="1400"/>
              <a:buFont typeface="Courier New" panose="02070309020205020404" pitchFamily="49" charset="0"/>
              <a:buChar char="o"/>
            </a:pPr>
            <a:r>
              <a:rPr lang="en-US" sz="1200" dirty="0">
                <a:solidFill>
                  <a:schemeClr val="dk1"/>
                </a:solidFill>
              </a:rPr>
              <a:t>XGBoost </a:t>
            </a:r>
          </a:p>
          <a:p>
            <a:pPr lvl="2" indent="-317500">
              <a:spcBef>
                <a:spcPts val="0"/>
              </a:spcBef>
              <a:buClr>
                <a:srgbClr val="000000"/>
              </a:buClr>
              <a:buSzPts val="1400"/>
              <a:buFont typeface="Wingdings" panose="05000000000000000000" pitchFamily="2" charset="2"/>
              <a:buChar char="§"/>
            </a:pPr>
            <a:r>
              <a:rPr lang="en-US" dirty="0">
                <a:solidFill>
                  <a:schemeClr val="dk1"/>
                </a:solidFill>
              </a:rPr>
              <a:t>Baseline validation: 48.7% recall; 78.6% precision</a:t>
            </a:r>
          </a:p>
          <a:p>
            <a:pPr lvl="2" indent="-317500">
              <a:spcBef>
                <a:spcPts val="0"/>
              </a:spcBef>
              <a:buClr>
                <a:srgbClr val="000000"/>
              </a:buClr>
              <a:buSzPts val="1400"/>
              <a:buFont typeface="Wingdings" panose="05000000000000000000" pitchFamily="2" charset="2"/>
              <a:buChar char="§"/>
            </a:pPr>
            <a:r>
              <a:rPr lang="en-US" dirty="0">
                <a:solidFill>
                  <a:schemeClr val="dk1"/>
                </a:solidFill>
              </a:rPr>
              <a:t>Tuned validation: 90.8% recall; 60.9% precision</a:t>
            </a:r>
          </a:p>
          <a:p>
            <a:pPr lvl="2" indent="-317500">
              <a:spcBef>
                <a:spcPts val="0"/>
              </a:spcBef>
              <a:buClr>
                <a:srgbClr val="000000"/>
              </a:buClr>
              <a:buSzPts val="1400"/>
              <a:buFont typeface="Wingdings" panose="05000000000000000000" pitchFamily="2" charset="2"/>
              <a:buChar char="§"/>
            </a:pPr>
            <a:r>
              <a:rPr lang="en-US" dirty="0">
                <a:solidFill>
                  <a:schemeClr val="dk1"/>
                </a:solidFill>
              </a:rPr>
              <a:t>Tuning substantially increased fault detection, with a higher proportion of false alerts.</a:t>
            </a:r>
          </a:p>
          <a:p>
            <a:pPr lvl="1" indent="-317500">
              <a:spcBef>
                <a:spcPts val="0"/>
              </a:spcBef>
              <a:buClr>
                <a:srgbClr val="000000"/>
              </a:buClr>
              <a:buSzPts val="1400"/>
              <a:buFont typeface="Courier New" panose="02070309020205020404" pitchFamily="49" charset="0"/>
              <a:buChar char="o"/>
            </a:pPr>
            <a:r>
              <a:rPr lang="en-US" sz="1200" dirty="0">
                <a:solidFill>
                  <a:schemeClr val="dk1"/>
                </a:solidFill>
              </a:rPr>
              <a:t>Artificial Neural Network (ANN)</a:t>
            </a:r>
          </a:p>
          <a:p>
            <a:pPr lvl="2" indent="-317500">
              <a:spcBef>
                <a:spcPts val="0"/>
              </a:spcBef>
              <a:buClr>
                <a:srgbClr val="000000"/>
              </a:buClr>
              <a:buSzPts val="1400"/>
              <a:buFont typeface="Wingdings" panose="05000000000000000000" pitchFamily="2" charset="2"/>
              <a:buChar char="§"/>
            </a:pPr>
            <a:r>
              <a:rPr lang="en-US" dirty="0">
                <a:solidFill>
                  <a:schemeClr val="dk1"/>
                </a:solidFill>
              </a:rPr>
              <a:t>Baseline validation: 61%% recall; 73.4% precision</a:t>
            </a:r>
          </a:p>
          <a:p>
            <a:pPr lvl="2" indent="-317500">
              <a:spcBef>
                <a:spcPts val="0"/>
              </a:spcBef>
              <a:buClr>
                <a:srgbClr val="000000"/>
              </a:buClr>
              <a:buSzPts val="1400"/>
              <a:buFont typeface="Wingdings" panose="05000000000000000000" pitchFamily="2" charset="2"/>
              <a:buChar char="§"/>
            </a:pPr>
            <a:r>
              <a:rPr lang="en-US" dirty="0">
                <a:solidFill>
                  <a:schemeClr val="dk1"/>
                </a:solidFill>
              </a:rPr>
              <a:t>Tuned validation: 60.4% recall; 81.8% precision</a:t>
            </a:r>
          </a:p>
          <a:p>
            <a:pPr lvl="2" indent="-317500">
              <a:spcBef>
                <a:spcPts val="0"/>
              </a:spcBef>
              <a:buClr>
                <a:srgbClr val="000000"/>
              </a:buClr>
              <a:buSzPts val="1400"/>
              <a:buFont typeface="Wingdings" panose="05000000000000000000" pitchFamily="2" charset="2"/>
              <a:buChar char="§"/>
            </a:pPr>
            <a:r>
              <a:rPr lang="en-US" dirty="0">
                <a:solidFill>
                  <a:schemeClr val="dk1"/>
                </a:solidFill>
              </a:rPr>
              <a:t>Tuning improved precision but had a slight decrease in recall.</a:t>
            </a:r>
          </a:p>
          <a:p>
            <a:pPr lvl="1" indent="-317500">
              <a:spcBef>
                <a:spcPts val="0"/>
              </a:spcBef>
              <a:buClr>
                <a:srgbClr val="000000"/>
              </a:buClr>
              <a:buSzPts val="1400"/>
              <a:buFont typeface="Courier New" panose="02070309020205020404" pitchFamily="49" charset="0"/>
              <a:buChar char="o"/>
            </a:pPr>
            <a:r>
              <a:rPr lang="en-US" sz="1200" dirty="0">
                <a:solidFill>
                  <a:srgbClr val="000000"/>
                </a:solidFill>
              </a:rPr>
              <a:t>Decision Tree</a:t>
            </a:r>
          </a:p>
          <a:p>
            <a:pPr lvl="2" indent="-317500">
              <a:spcBef>
                <a:spcPts val="0"/>
              </a:spcBef>
              <a:buClr>
                <a:srgbClr val="000000"/>
              </a:buClr>
              <a:buSzPts val="1400"/>
              <a:buFont typeface="Wingdings" panose="05000000000000000000" pitchFamily="2" charset="2"/>
              <a:buChar char="§"/>
            </a:pPr>
            <a:r>
              <a:rPr lang="en-US" dirty="0">
                <a:solidFill>
                  <a:srgbClr val="000000"/>
                </a:solidFill>
              </a:rPr>
              <a:t>Baseline validation: 19.1% recall; 83.5% precision</a:t>
            </a:r>
          </a:p>
          <a:p>
            <a:pPr lvl="2" indent="-317500">
              <a:spcBef>
                <a:spcPts val="0"/>
              </a:spcBef>
              <a:buClr>
                <a:srgbClr val="000000"/>
              </a:buClr>
              <a:buSzPts val="1400"/>
              <a:buFont typeface="Wingdings" panose="05000000000000000000" pitchFamily="2" charset="2"/>
              <a:buChar char="§"/>
            </a:pPr>
            <a:r>
              <a:rPr lang="en-US" dirty="0">
                <a:solidFill>
                  <a:srgbClr val="000000"/>
                </a:solidFill>
              </a:rPr>
              <a:t>Tuned validation: 75.6% recall; 40.6% precision</a:t>
            </a:r>
          </a:p>
          <a:p>
            <a:pPr lvl="2" indent="-317500">
              <a:spcBef>
                <a:spcPts val="0"/>
              </a:spcBef>
              <a:buClr>
                <a:srgbClr val="000000"/>
              </a:buClr>
              <a:buSzPts val="1400"/>
              <a:buFont typeface="Wingdings" panose="05000000000000000000" pitchFamily="2" charset="2"/>
              <a:buChar char="§"/>
            </a:pPr>
            <a:r>
              <a:rPr lang="en-US" dirty="0">
                <a:solidFill>
                  <a:srgbClr val="000000"/>
                </a:solidFill>
              </a:rPr>
              <a:t>Tuning substantially increased fault detection, but more than half of flagged observations were false alerts.</a:t>
            </a:r>
          </a:p>
        </p:txBody>
      </p:sp>
      <p:sp>
        <p:nvSpPr>
          <p:cNvPr id="145" name="Google Shape;145;p7"/>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dirty="0">
              <a:solidFill>
                <a:srgbClr val="666666"/>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2BBD35FA-7736-976A-5AC8-19CF22E315C2}"/>
            </a:ext>
          </a:extLst>
        </p:cNvPr>
        <p:cNvGrpSpPr/>
        <p:nvPr/>
      </p:nvGrpSpPr>
      <p:grpSpPr>
        <a:xfrm>
          <a:off x="0" y="0"/>
          <a:ext cx="0" cy="0"/>
          <a:chOff x="0" y="0"/>
          <a:chExt cx="0" cy="0"/>
        </a:xfrm>
      </p:grpSpPr>
      <p:sp>
        <p:nvSpPr>
          <p:cNvPr id="143" name="Google Shape;143;p7">
            <a:extLst>
              <a:ext uri="{FF2B5EF4-FFF2-40B4-BE49-F238E27FC236}">
                <a16:creationId xmlns:a16="http://schemas.microsoft.com/office/drawing/2014/main" id="{80A08AF4-1547-C16C-6F55-2AF1A79E3BC4}"/>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44" name="Google Shape;144;p7">
            <a:extLst>
              <a:ext uri="{FF2B5EF4-FFF2-40B4-BE49-F238E27FC236}">
                <a16:creationId xmlns:a16="http://schemas.microsoft.com/office/drawing/2014/main" id="{B3C27DEB-68C7-36B4-74E5-C153C84E31B0}"/>
              </a:ext>
            </a:extLst>
          </p:cNvPr>
          <p:cNvSpPr txBox="1">
            <a:spLocks noGrp="1"/>
          </p:cNvSpPr>
          <p:nvPr>
            <p:ph type="body" idx="1"/>
          </p:nvPr>
        </p:nvSpPr>
        <p:spPr>
          <a:xfrm>
            <a:off x="147950" y="727535"/>
            <a:ext cx="8629800" cy="3969593"/>
          </a:xfrm>
          <a:prstGeom prst="rect">
            <a:avLst/>
          </a:prstGeom>
          <a:noFill/>
          <a:ln>
            <a:noFill/>
          </a:ln>
        </p:spPr>
        <p:txBody>
          <a:bodyPr spcFirstLastPara="1" wrap="square" lIns="91425" tIns="91425" rIns="91425" bIns="91425" anchor="t" anchorCtr="0">
            <a:noAutofit/>
          </a:bodyPr>
          <a:lstStyle/>
          <a:p>
            <a:pPr lvl="1" indent="-317500">
              <a:spcBef>
                <a:spcPts val="0"/>
              </a:spcBef>
              <a:buClr>
                <a:srgbClr val="000000"/>
              </a:buClr>
              <a:buSzPts val="1400"/>
              <a:buFont typeface="Courier New" panose="02070309020205020404" pitchFamily="49" charset="0"/>
              <a:buChar char="o"/>
            </a:pPr>
            <a:r>
              <a:rPr lang="en-US" sz="1200" dirty="0">
                <a:solidFill>
                  <a:srgbClr val="000000"/>
                </a:solidFill>
              </a:rPr>
              <a:t>Random Forest</a:t>
            </a:r>
          </a:p>
          <a:p>
            <a:pPr marL="1225550" lvl="2" indent="-171450">
              <a:spcBef>
                <a:spcPts val="0"/>
              </a:spcBef>
              <a:buClr>
                <a:srgbClr val="000000"/>
              </a:buClr>
              <a:buSzPts val="1400"/>
              <a:buFont typeface="Wingdings" panose="05000000000000000000" pitchFamily="2" charset="2"/>
              <a:buChar char="§"/>
            </a:pPr>
            <a:r>
              <a:rPr lang="en-US" dirty="0">
                <a:solidFill>
                  <a:srgbClr val="000000"/>
                </a:solidFill>
              </a:rPr>
              <a:t>Baseline validation: 2.5% recall; 74.3% precision</a:t>
            </a:r>
          </a:p>
          <a:p>
            <a:pPr marL="1225550" lvl="2" indent="-171450">
              <a:spcBef>
                <a:spcPts val="0"/>
              </a:spcBef>
              <a:buClr>
                <a:srgbClr val="000000"/>
              </a:buClr>
              <a:buSzPts val="1400"/>
              <a:buFont typeface="Wingdings" panose="05000000000000000000" pitchFamily="2" charset="2"/>
              <a:buChar char="§"/>
            </a:pPr>
            <a:r>
              <a:rPr lang="en-US" dirty="0">
                <a:solidFill>
                  <a:srgbClr val="000000"/>
                </a:solidFill>
              </a:rPr>
              <a:t>Tuned validation: 65.3% recall; 74.8% precision</a:t>
            </a:r>
          </a:p>
          <a:p>
            <a:pPr marL="1225550" lvl="2" indent="-171450">
              <a:spcBef>
                <a:spcPts val="0"/>
              </a:spcBef>
              <a:buClr>
                <a:srgbClr val="000000"/>
              </a:buClr>
              <a:buSzPts val="1400"/>
              <a:buFont typeface="Wingdings" panose="05000000000000000000" pitchFamily="2" charset="2"/>
              <a:buChar char="§"/>
            </a:pPr>
            <a:r>
              <a:rPr lang="en-US" dirty="0">
                <a:solidFill>
                  <a:srgbClr val="000000"/>
                </a:solidFill>
              </a:rPr>
              <a:t>Tuning substantially improved fault detection while maintaining similar alert precision.</a:t>
            </a:r>
          </a:p>
          <a:p>
            <a:pPr lvl="1" indent="-317500">
              <a:spcBef>
                <a:spcPts val="0"/>
              </a:spcBef>
              <a:buClr>
                <a:srgbClr val="000000"/>
              </a:buClr>
              <a:buSzPts val="1400"/>
              <a:buFont typeface="Courier New" panose="02070309020205020404" pitchFamily="49" charset="0"/>
              <a:buChar char="o"/>
            </a:pPr>
            <a:r>
              <a:rPr lang="en-US" sz="1200" dirty="0">
                <a:solidFill>
                  <a:srgbClr val="000000"/>
                </a:solidFill>
              </a:rPr>
              <a:t>Gradient Boosting</a:t>
            </a:r>
          </a:p>
          <a:p>
            <a:pPr lvl="2" indent="-317500">
              <a:spcBef>
                <a:spcPts val="0"/>
              </a:spcBef>
              <a:buClr>
                <a:srgbClr val="000000"/>
              </a:buClr>
              <a:buSzPts val="1400"/>
              <a:buFont typeface="Wingdings" panose="05000000000000000000" pitchFamily="2" charset="2"/>
              <a:buChar char="§"/>
            </a:pPr>
            <a:r>
              <a:rPr lang="en-US" dirty="0">
                <a:solidFill>
                  <a:srgbClr val="000000"/>
                </a:solidFill>
              </a:rPr>
              <a:t>Baseline validation: 33.4% recall; 48.5% precision</a:t>
            </a:r>
          </a:p>
          <a:p>
            <a:pPr lvl="2" indent="-317500">
              <a:spcBef>
                <a:spcPts val="0"/>
              </a:spcBef>
              <a:buClr>
                <a:srgbClr val="000000"/>
              </a:buClr>
              <a:buSzPts val="1400"/>
              <a:buFont typeface="Wingdings" panose="05000000000000000000" pitchFamily="2" charset="2"/>
              <a:buChar char="§"/>
            </a:pPr>
            <a:r>
              <a:rPr lang="en-US" dirty="0">
                <a:solidFill>
                  <a:srgbClr val="000000"/>
                </a:solidFill>
              </a:rPr>
              <a:t>Tuned validation: 47.1% recall; 79.4% precision</a:t>
            </a:r>
          </a:p>
          <a:p>
            <a:pPr lvl="2" indent="-317500">
              <a:spcBef>
                <a:spcPts val="0"/>
              </a:spcBef>
              <a:buClr>
                <a:srgbClr val="000000"/>
              </a:buClr>
              <a:buSzPts val="1400"/>
              <a:buFont typeface="Wingdings" panose="05000000000000000000" pitchFamily="2" charset="2"/>
              <a:buChar char="§"/>
            </a:pPr>
            <a:r>
              <a:rPr lang="en-US" dirty="0">
                <a:solidFill>
                  <a:srgbClr val="000000"/>
                </a:solidFill>
              </a:rPr>
              <a:t>Tuning improved both fault detection and alert precision, although more than half of fault observations remained undetected.</a:t>
            </a:r>
          </a:p>
          <a:p>
            <a:pPr lvl="0" indent="-317500">
              <a:spcBef>
                <a:spcPts val="1000"/>
              </a:spcBef>
              <a:buClr>
                <a:srgbClr val="000000"/>
              </a:buClr>
              <a:buSzPts val="1400"/>
            </a:pPr>
            <a:r>
              <a:rPr lang="en" sz="1400" dirty="0">
                <a:solidFill>
                  <a:schemeClr val="dk1"/>
                </a:solidFill>
              </a:rPr>
              <a:t>Overview of final model and its parameters</a:t>
            </a:r>
          </a:p>
          <a:p>
            <a:pPr lvl="1" indent="-317500">
              <a:spcBef>
                <a:spcPts val="1000"/>
              </a:spcBef>
              <a:buClr>
                <a:srgbClr val="000000"/>
              </a:buClr>
              <a:buSzPts val="1400"/>
              <a:buFont typeface="Courier New" panose="02070309020205020404" pitchFamily="49" charset="0"/>
              <a:buChar char="o"/>
            </a:pPr>
            <a:r>
              <a:rPr lang="en" sz="1200" dirty="0">
                <a:solidFill>
                  <a:schemeClr val="dk1"/>
                </a:solidFill>
              </a:rPr>
              <a:t>Tuned XGBoost</a:t>
            </a:r>
          </a:p>
          <a:p>
            <a:pPr lvl="2" indent="-317500">
              <a:spcBef>
                <a:spcPts val="1000"/>
              </a:spcBef>
              <a:buClr>
                <a:srgbClr val="000000"/>
              </a:buClr>
              <a:buSzPts val="1400"/>
              <a:buFont typeface="Wingdings" panose="05000000000000000000" pitchFamily="2" charset="2"/>
              <a:buChar char="§"/>
            </a:pPr>
            <a:r>
              <a:rPr lang="en-US" dirty="0">
                <a:solidFill>
                  <a:schemeClr val="dk1"/>
                </a:solidFill>
              </a:rPr>
              <a:t>Combines decision trees to classify drivetrain observations as fault or normal.</a:t>
            </a:r>
          </a:p>
          <a:p>
            <a:pPr lvl="2" indent="-317500">
              <a:spcBef>
                <a:spcPts val="1000"/>
              </a:spcBef>
              <a:buClr>
                <a:srgbClr val="000000"/>
              </a:buClr>
              <a:buSzPts val="1400"/>
              <a:buFont typeface="Wingdings" panose="05000000000000000000" pitchFamily="2" charset="2"/>
              <a:buChar char="§"/>
            </a:pPr>
            <a:r>
              <a:rPr lang="en-US" dirty="0">
                <a:solidFill>
                  <a:schemeClr val="dk1"/>
                </a:solidFill>
              </a:rPr>
              <a:t>Tuned through randomized search with five-fold cross-validation, prioritizing recall.</a:t>
            </a:r>
          </a:p>
          <a:p>
            <a:pPr lvl="2" indent="-317500">
              <a:spcBef>
                <a:spcPts val="1000"/>
              </a:spcBef>
              <a:buClr>
                <a:srgbClr val="000000"/>
              </a:buClr>
              <a:buSzPts val="1400"/>
              <a:buFont typeface="Wingdings" panose="05000000000000000000" pitchFamily="2" charset="2"/>
              <a:buChar char="§"/>
            </a:pPr>
            <a:r>
              <a:rPr lang="en-US" dirty="0">
                <a:solidFill>
                  <a:schemeClr val="dk1"/>
                </a:solidFill>
              </a:rPr>
              <a:t>Tree settings: 100 trees, maximum depth of 3, and learning rate of 0.05.</a:t>
            </a:r>
          </a:p>
        </p:txBody>
      </p:sp>
      <p:sp>
        <p:nvSpPr>
          <p:cNvPr id="145" name="Google Shape;145;p7">
            <a:extLst>
              <a:ext uri="{FF2B5EF4-FFF2-40B4-BE49-F238E27FC236}">
                <a16:creationId xmlns:a16="http://schemas.microsoft.com/office/drawing/2014/main" id="{44FBE746-C384-C1D1-4485-4B3C18CBDE5C}"/>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dirty="0">
              <a:solidFill>
                <a:srgbClr val="666666"/>
              </a:solidFill>
              <a:latin typeface="Nunito"/>
              <a:ea typeface="Nunito"/>
              <a:cs typeface="Nunito"/>
              <a:sym typeface="Nunito"/>
            </a:endParaRPr>
          </a:p>
        </p:txBody>
      </p:sp>
    </p:spTree>
    <p:extLst>
      <p:ext uri="{BB962C8B-B14F-4D97-AF65-F5344CB8AC3E}">
        <p14:creationId xmlns:p14="http://schemas.microsoft.com/office/powerpoint/2010/main" val="2321310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F03F11B8-CB01-CBE8-A2C8-087501796A12}"/>
            </a:ext>
          </a:extLst>
        </p:cNvPr>
        <p:cNvGrpSpPr/>
        <p:nvPr/>
      </p:nvGrpSpPr>
      <p:grpSpPr>
        <a:xfrm>
          <a:off x="0" y="0"/>
          <a:ext cx="0" cy="0"/>
          <a:chOff x="0" y="0"/>
          <a:chExt cx="0" cy="0"/>
        </a:xfrm>
      </p:grpSpPr>
      <p:sp>
        <p:nvSpPr>
          <p:cNvPr id="143" name="Google Shape;143;p7">
            <a:extLst>
              <a:ext uri="{FF2B5EF4-FFF2-40B4-BE49-F238E27FC236}">
                <a16:creationId xmlns:a16="http://schemas.microsoft.com/office/drawing/2014/main" id="{51728E4D-61CA-D383-0EFD-F12522946E3F}"/>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44" name="Google Shape;144;p7">
            <a:extLst>
              <a:ext uri="{FF2B5EF4-FFF2-40B4-BE49-F238E27FC236}">
                <a16:creationId xmlns:a16="http://schemas.microsoft.com/office/drawing/2014/main" id="{C87A26B6-B80D-7BA1-3043-397FE3C2501D}"/>
              </a:ext>
            </a:extLst>
          </p:cNvPr>
          <p:cNvSpPr txBox="1">
            <a:spLocks noGrp="1"/>
          </p:cNvSpPr>
          <p:nvPr>
            <p:ph type="body" idx="1"/>
          </p:nvPr>
        </p:nvSpPr>
        <p:spPr>
          <a:xfrm>
            <a:off x="202550" y="861974"/>
            <a:ext cx="8629800" cy="3992247"/>
          </a:xfrm>
          <a:prstGeom prst="rect">
            <a:avLst/>
          </a:prstGeom>
          <a:noFill/>
          <a:ln>
            <a:noFill/>
          </a:ln>
        </p:spPr>
        <p:txBody>
          <a:bodyPr spcFirstLastPara="1" wrap="square" lIns="91425" tIns="91425" rIns="91425" bIns="91425" anchor="t" anchorCtr="0">
            <a:noAutofit/>
          </a:bodyPr>
          <a:lstStyle/>
          <a:p>
            <a:pPr lvl="0" indent="-317500">
              <a:spcBef>
                <a:spcPts val="1000"/>
              </a:spcBef>
              <a:buClr>
                <a:schemeClr val="dk1"/>
              </a:buClr>
              <a:buSzPts val="1400"/>
            </a:pPr>
            <a:r>
              <a:rPr lang="en-US" sz="1400" dirty="0">
                <a:solidFill>
                  <a:schemeClr val="dk1"/>
                </a:solidFill>
              </a:rPr>
              <a:t>Comment on the performance of the final model</a:t>
            </a:r>
          </a:p>
          <a:p>
            <a:pPr lvl="1" indent="-317500">
              <a:spcBef>
                <a:spcPts val="1000"/>
              </a:spcBef>
              <a:buClr>
                <a:schemeClr val="dk1"/>
              </a:buClr>
              <a:buSzPts val="1400"/>
            </a:pPr>
            <a:r>
              <a:rPr lang="en-US" sz="1200" dirty="0">
                <a:solidFill>
                  <a:schemeClr val="dk1"/>
                </a:solidFill>
              </a:rPr>
              <a:t>Performance of the Final Tuned XGBoost Model</a:t>
            </a:r>
          </a:p>
          <a:p>
            <a:pPr lvl="2" indent="-317500">
              <a:spcBef>
                <a:spcPts val="1000"/>
              </a:spcBef>
              <a:buClr>
                <a:schemeClr val="dk1"/>
              </a:buClr>
              <a:buSzPts val="1400"/>
              <a:buFont typeface="Wingdings" panose="05000000000000000000" pitchFamily="2" charset="2"/>
              <a:buChar char="§"/>
            </a:pPr>
            <a:r>
              <a:rPr lang="en-US" dirty="0">
                <a:solidFill>
                  <a:srgbClr val="000000"/>
                </a:solidFill>
              </a:rPr>
              <a:t>Achieved 90.8% validation recall and 60.9% validation precision.</a:t>
            </a:r>
          </a:p>
          <a:p>
            <a:pPr lvl="2" indent="-317500">
              <a:spcBef>
                <a:spcPts val="1000"/>
              </a:spcBef>
              <a:buClr>
                <a:schemeClr val="dk1"/>
              </a:buClr>
              <a:buSzPts val="1400"/>
              <a:buFont typeface="Wingdings" panose="05000000000000000000" pitchFamily="2" charset="2"/>
              <a:buChar char="§"/>
            </a:pPr>
            <a:r>
              <a:rPr lang="en-US" dirty="0">
                <a:solidFill>
                  <a:srgbClr val="000000"/>
                </a:solidFill>
              </a:rPr>
              <a:t>Detected approximately 91% of fault observations, while approximately 39% of flagged observations were false alerts.</a:t>
            </a:r>
          </a:p>
          <a:p>
            <a:pPr lvl="2" indent="-317500">
              <a:spcBef>
                <a:spcPts val="1000"/>
              </a:spcBef>
              <a:buClr>
                <a:schemeClr val="dk1"/>
              </a:buClr>
              <a:buSzPts val="1400"/>
              <a:buFont typeface="Wingdings" panose="05000000000000000000" pitchFamily="2" charset="2"/>
              <a:buChar char="§"/>
            </a:pPr>
            <a:r>
              <a:rPr lang="en-US" dirty="0">
                <a:solidFill>
                  <a:srgbClr val="000000"/>
                </a:solidFill>
              </a:rPr>
              <a:t>Achieved the highest validation recall and F1 score (72.9%) among all evaluated models.</a:t>
            </a:r>
          </a:p>
          <a:p>
            <a:pPr lvl="2" indent="-317500">
              <a:spcBef>
                <a:spcPts val="1000"/>
              </a:spcBef>
              <a:buClr>
                <a:schemeClr val="dk1"/>
              </a:buClr>
              <a:buSzPts val="1400"/>
              <a:buFont typeface="Wingdings" panose="05000000000000000000" pitchFamily="2" charset="2"/>
              <a:buChar char="§"/>
            </a:pPr>
            <a:r>
              <a:rPr lang="en-US" dirty="0">
                <a:solidFill>
                  <a:srgbClr val="000000"/>
                </a:solidFill>
              </a:rPr>
              <a:t>Best aligned with the project’s priority of minimizing missed faults.</a:t>
            </a:r>
            <a:endParaRPr dirty="0">
              <a:solidFill>
                <a:srgbClr val="000000"/>
              </a:solidFill>
            </a:endParaRPr>
          </a:p>
          <a:p>
            <a:pPr marL="0" lvl="0" indent="0" algn="l" rtl="0">
              <a:lnSpc>
                <a:spcPct val="115000"/>
              </a:lnSpc>
              <a:spcBef>
                <a:spcPts val="1000"/>
              </a:spcBef>
              <a:spcAft>
                <a:spcPts val="1000"/>
              </a:spcAft>
              <a:buSzPts val="1500"/>
              <a:buNone/>
            </a:pPr>
            <a:endParaRPr sz="1400" dirty="0">
              <a:solidFill>
                <a:srgbClr val="000000"/>
              </a:solidFill>
            </a:endParaRPr>
          </a:p>
        </p:txBody>
      </p:sp>
      <p:sp>
        <p:nvSpPr>
          <p:cNvPr id="145" name="Google Shape;145;p7">
            <a:extLst>
              <a:ext uri="{FF2B5EF4-FFF2-40B4-BE49-F238E27FC236}">
                <a16:creationId xmlns:a16="http://schemas.microsoft.com/office/drawing/2014/main" id="{DC73B21C-3373-6BD5-7F07-09F3A7BE491F}"/>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spTree>
    <p:extLst>
      <p:ext uri="{BB962C8B-B14F-4D97-AF65-F5344CB8AC3E}">
        <p14:creationId xmlns:p14="http://schemas.microsoft.com/office/powerpoint/2010/main" val="1596239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8"/>
          <p:cNvSpPr txBox="1">
            <a:spLocks noGrp="1"/>
          </p:cNvSpPr>
          <p:nvPr>
            <p:ph type="ctrTitle"/>
          </p:nvPr>
        </p:nvSpPr>
        <p:spPr>
          <a:xfrm>
            <a:off x="0" y="2820425"/>
            <a:ext cx="9144000" cy="581700"/>
          </a:xfrm>
          <a:prstGeom prst="rect">
            <a:avLst/>
          </a:prstGeom>
          <a:solidFill>
            <a:srgbClr val="0000FF"/>
          </a:solid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300">
                <a:solidFill>
                  <a:schemeClr val="lt1"/>
                </a:solidFill>
              </a:rPr>
              <a:t>APPENDIX</a:t>
            </a:r>
            <a:endParaRPr sz="33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Background and Contents</a:t>
            </a:r>
            <a:endParaRPr>
              <a:solidFill>
                <a:srgbClr val="000000"/>
              </a:solidFill>
            </a:endParaRPr>
          </a:p>
        </p:txBody>
      </p:sp>
      <p:sp>
        <p:nvSpPr>
          <p:cNvPr id="156" name="Google Shape;156;p9"/>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1000"/>
              </a:spcAft>
              <a:buClr>
                <a:srgbClr val="000000"/>
              </a:buClr>
              <a:buSzPts val="1400"/>
              <a:buChar char="●"/>
            </a:pPr>
            <a:r>
              <a:rPr lang="en" sz="1400" dirty="0">
                <a:solidFill>
                  <a:schemeClr val="dk1"/>
                </a:solidFill>
              </a:rPr>
              <a:t>Please mention the data background and contents</a:t>
            </a:r>
          </a:p>
          <a:p>
            <a:pPr marL="139700" lvl="0" indent="0" algn="l" rtl="0">
              <a:lnSpc>
                <a:spcPct val="115000"/>
              </a:lnSpc>
              <a:spcBef>
                <a:spcPts val="1000"/>
              </a:spcBef>
              <a:spcAft>
                <a:spcPts val="1000"/>
              </a:spcAft>
              <a:buClr>
                <a:srgbClr val="000000"/>
              </a:buClr>
              <a:buSzPts val="1400"/>
              <a:buNone/>
            </a:pPr>
            <a:endParaRPr sz="1400" dirty="0">
              <a:solidFill>
                <a:schemeClr val="dk1"/>
              </a:solidFill>
            </a:endParaRPr>
          </a:p>
        </p:txBody>
      </p:sp>
      <p:pic>
        <p:nvPicPr>
          <p:cNvPr id="3" name="Picture 2">
            <a:extLst>
              <a:ext uri="{FF2B5EF4-FFF2-40B4-BE49-F238E27FC236}">
                <a16:creationId xmlns:a16="http://schemas.microsoft.com/office/drawing/2014/main" id="{8C046B28-C159-1FD8-A185-13CE22727EAF}"/>
              </a:ext>
            </a:extLst>
          </p:cNvPr>
          <p:cNvPicPr>
            <a:picLocks noChangeAspect="1"/>
          </p:cNvPicPr>
          <p:nvPr/>
        </p:nvPicPr>
        <p:blipFill>
          <a:blip r:embed="rId3"/>
          <a:stretch>
            <a:fillRect/>
          </a:stretch>
        </p:blipFill>
        <p:spPr>
          <a:xfrm>
            <a:off x="202550" y="1434675"/>
            <a:ext cx="3999900" cy="2332653"/>
          </a:xfrm>
          <a:prstGeom prst="rect">
            <a:avLst/>
          </a:prstGeom>
        </p:spPr>
      </p:pic>
      <p:pic>
        <p:nvPicPr>
          <p:cNvPr id="5" name="Picture 4">
            <a:extLst>
              <a:ext uri="{FF2B5EF4-FFF2-40B4-BE49-F238E27FC236}">
                <a16:creationId xmlns:a16="http://schemas.microsoft.com/office/drawing/2014/main" id="{BD0FAF04-0280-AAF5-BD68-94CF5E60C4F9}"/>
              </a:ext>
            </a:extLst>
          </p:cNvPr>
          <p:cNvPicPr>
            <a:picLocks noChangeAspect="1"/>
          </p:cNvPicPr>
          <p:nvPr/>
        </p:nvPicPr>
        <p:blipFill>
          <a:blip r:embed="rId4"/>
          <a:stretch>
            <a:fillRect/>
          </a:stretch>
        </p:blipFill>
        <p:spPr>
          <a:xfrm>
            <a:off x="4517450" y="1367942"/>
            <a:ext cx="4491533" cy="2535231"/>
          </a:xfrm>
          <a:prstGeom prst="rect">
            <a:avLst/>
          </a:prstGeom>
        </p:spPr>
      </p:pic>
      <p:sp>
        <p:nvSpPr>
          <p:cNvPr id="6" name="Rectangle 5">
            <a:extLst>
              <a:ext uri="{FF2B5EF4-FFF2-40B4-BE49-F238E27FC236}">
                <a16:creationId xmlns:a16="http://schemas.microsoft.com/office/drawing/2014/main" id="{ACBEFBA0-79EF-B507-0D6F-A70396DFDE4C}"/>
              </a:ext>
            </a:extLst>
          </p:cNvPr>
          <p:cNvSpPr/>
          <p:nvPr/>
        </p:nvSpPr>
        <p:spPr>
          <a:xfrm>
            <a:off x="6456512" y="3877530"/>
            <a:ext cx="921715" cy="3584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Figure 2</a:t>
            </a:r>
          </a:p>
        </p:txBody>
      </p:sp>
      <p:sp>
        <p:nvSpPr>
          <p:cNvPr id="8" name="Rectangle 7">
            <a:extLst>
              <a:ext uri="{FF2B5EF4-FFF2-40B4-BE49-F238E27FC236}">
                <a16:creationId xmlns:a16="http://schemas.microsoft.com/office/drawing/2014/main" id="{09B84140-1D03-69B3-7853-4244250D3B42}"/>
              </a:ext>
            </a:extLst>
          </p:cNvPr>
          <p:cNvSpPr/>
          <p:nvPr/>
        </p:nvSpPr>
        <p:spPr>
          <a:xfrm>
            <a:off x="2051543" y="3919728"/>
            <a:ext cx="921715" cy="3584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Figure 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AF3EA0D2-2F7B-279A-6FDA-40317E40D493}"/>
            </a:ext>
          </a:extLst>
        </p:cNvPr>
        <p:cNvGrpSpPr/>
        <p:nvPr/>
      </p:nvGrpSpPr>
      <p:grpSpPr>
        <a:xfrm>
          <a:off x="0" y="0"/>
          <a:ext cx="0" cy="0"/>
          <a:chOff x="0" y="0"/>
          <a:chExt cx="0" cy="0"/>
        </a:xfrm>
      </p:grpSpPr>
      <p:sp>
        <p:nvSpPr>
          <p:cNvPr id="155" name="Google Shape;155;p9">
            <a:extLst>
              <a:ext uri="{FF2B5EF4-FFF2-40B4-BE49-F238E27FC236}">
                <a16:creationId xmlns:a16="http://schemas.microsoft.com/office/drawing/2014/main" id="{217ED315-116D-86C4-F615-AF5694928299}"/>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Background and Contents</a:t>
            </a:r>
            <a:endParaRPr>
              <a:solidFill>
                <a:srgbClr val="000000"/>
              </a:solidFill>
            </a:endParaRPr>
          </a:p>
        </p:txBody>
      </p:sp>
      <p:sp>
        <p:nvSpPr>
          <p:cNvPr id="156" name="Google Shape;156;p9">
            <a:extLst>
              <a:ext uri="{FF2B5EF4-FFF2-40B4-BE49-F238E27FC236}">
                <a16:creationId xmlns:a16="http://schemas.microsoft.com/office/drawing/2014/main" id="{53D569DF-6B09-0EAD-E72A-CBBB1E0F93EA}"/>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1000"/>
              </a:spcAft>
              <a:buClr>
                <a:srgbClr val="000000"/>
              </a:buClr>
              <a:buSzPts val="1400"/>
              <a:buChar char="●"/>
            </a:pPr>
            <a:r>
              <a:rPr lang="en" sz="1400" dirty="0">
                <a:solidFill>
                  <a:schemeClr val="dk1"/>
                </a:solidFill>
              </a:rPr>
              <a:t>Please mention the data background and contents</a:t>
            </a:r>
          </a:p>
          <a:p>
            <a:pPr marL="139700" lvl="0" indent="0" algn="l" rtl="0">
              <a:lnSpc>
                <a:spcPct val="115000"/>
              </a:lnSpc>
              <a:spcBef>
                <a:spcPts val="1000"/>
              </a:spcBef>
              <a:spcAft>
                <a:spcPts val="1000"/>
              </a:spcAft>
              <a:buClr>
                <a:srgbClr val="000000"/>
              </a:buClr>
              <a:buSzPts val="1400"/>
              <a:buNone/>
            </a:pPr>
            <a:endParaRPr sz="1400" dirty="0">
              <a:solidFill>
                <a:schemeClr val="dk1"/>
              </a:solidFill>
            </a:endParaRPr>
          </a:p>
        </p:txBody>
      </p:sp>
      <p:pic>
        <p:nvPicPr>
          <p:cNvPr id="4" name="Picture 3">
            <a:extLst>
              <a:ext uri="{FF2B5EF4-FFF2-40B4-BE49-F238E27FC236}">
                <a16:creationId xmlns:a16="http://schemas.microsoft.com/office/drawing/2014/main" id="{F52589B0-6C26-B320-C445-D7D4F8FCD3B5}"/>
              </a:ext>
            </a:extLst>
          </p:cNvPr>
          <p:cNvPicPr>
            <a:picLocks noChangeAspect="1"/>
          </p:cNvPicPr>
          <p:nvPr/>
        </p:nvPicPr>
        <p:blipFill>
          <a:blip r:embed="rId3"/>
          <a:stretch>
            <a:fillRect/>
          </a:stretch>
        </p:blipFill>
        <p:spPr>
          <a:xfrm>
            <a:off x="202550" y="1434675"/>
            <a:ext cx="3503981" cy="2008608"/>
          </a:xfrm>
          <a:prstGeom prst="rect">
            <a:avLst/>
          </a:prstGeom>
        </p:spPr>
      </p:pic>
      <p:sp>
        <p:nvSpPr>
          <p:cNvPr id="7" name="Rectangle 6">
            <a:extLst>
              <a:ext uri="{FF2B5EF4-FFF2-40B4-BE49-F238E27FC236}">
                <a16:creationId xmlns:a16="http://schemas.microsoft.com/office/drawing/2014/main" id="{1C5F0C72-9CBB-01D2-F312-024B54C9E412}"/>
              </a:ext>
            </a:extLst>
          </p:cNvPr>
          <p:cNvSpPr/>
          <p:nvPr/>
        </p:nvSpPr>
        <p:spPr>
          <a:xfrm>
            <a:off x="1584589" y="3468363"/>
            <a:ext cx="921715" cy="3584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Figure 3</a:t>
            </a:r>
          </a:p>
        </p:txBody>
      </p:sp>
      <p:pic>
        <p:nvPicPr>
          <p:cNvPr id="3" name="Picture 2">
            <a:extLst>
              <a:ext uri="{FF2B5EF4-FFF2-40B4-BE49-F238E27FC236}">
                <a16:creationId xmlns:a16="http://schemas.microsoft.com/office/drawing/2014/main" id="{864042E1-65CD-23BB-F7F6-9277463819AF}"/>
              </a:ext>
            </a:extLst>
          </p:cNvPr>
          <p:cNvPicPr>
            <a:picLocks noChangeAspect="1"/>
          </p:cNvPicPr>
          <p:nvPr/>
        </p:nvPicPr>
        <p:blipFill>
          <a:blip r:embed="rId4"/>
          <a:stretch>
            <a:fillRect/>
          </a:stretch>
        </p:blipFill>
        <p:spPr>
          <a:xfrm>
            <a:off x="4700088" y="1434675"/>
            <a:ext cx="4132262" cy="2187575"/>
          </a:xfrm>
          <a:prstGeom prst="rect">
            <a:avLst/>
          </a:prstGeom>
        </p:spPr>
      </p:pic>
      <p:sp>
        <p:nvSpPr>
          <p:cNvPr id="6" name="Rectangle 5">
            <a:extLst>
              <a:ext uri="{FF2B5EF4-FFF2-40B4-BE49-F238E27FC236}">
                <a16:creationId xmlns:a16="http://schemas.microsoft.com/office/drawing/2014/main" id="{6ED935DA-4999-E332-DFEC-BFFE8E34A4CB}"/>
              </a:ext>
            </a:extLst>
          </p:cNvPr>
          <p:cNvSpPr/>
          <p:nvPr/>
        </p:nvSpPr>
        <p:spPr>
          <a:xfrm>
            <a:off x="6637698" y="3737068"/>
            <a:ext cx="921715" cy="3584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Figure 4</a:t>
            </a:r>
          </a:p>
        </p:txBody>
      </p:sp>
    </p:spTree>
    <p:extLst>
      <p:ext uri="{BB962C8B-B14F-4D97-AF65-F5344CB8AC3E}">
        <p14:creationId xmlns:p14="http://schemas.microsoft.com/office/powerpoint/2010/main" val="3362067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21EA1AD0-4632-91C3-BDC2-67BFB5FECD95}"/>
            </a:ext>
          </a:extLst>
        </p:cNvPr>
        <p:cNvGrpSpPr/>
        <p:nvPr/>
      </p:nvGrpSpPr>
      <p:grpSpPr>
        <a:xfrm>
          <a:off x="0" y="0"/>
          <a:ext cx="0" cy="0"/>
          <a:chOff x="0" y="0"/>
          <a:chExt cx="0" cy="0"/>
        </a:xfrm>
      </p:grpSpPr>
      <p:sp>
        <p:nvSpPr>
          <p:cNvPr id="155" name="Google Shape;155;p9">
            <a:extLst>
              <a:ext uri="{FF2B5EF4-FFF2-40B4-BE49-F238E27FC236}">
                <a16:creationId xmlns:a16="http://schemas.microsoft.com/office/drawing/2014/main" id="{A77DD0F3-2070-70F7-399D-7987D2CE0DF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Background and Contents</a:t>
            </a:r>
            <a:endParaRPr>
              <a:solidFill>
                <a:srgbClr val="000000"/>
              </a:solidFill>
            </a:endParaRPr>
          </a:p>
        </p:txBody>
      </p:sp>
      <p:sp>
        <p:nvSpPr>
          <p:cNvPr id="156" name="Google Shape;156;p9">
            <a:extLst>
              <a:ext uri="{FF2B5EF4-FFF2-40B4-BE49-F238E27FC236}">
                <a16:creationId xmlns:a16="http://schemas.microsoft.com/office/drawing/2014/main" id="{93A59DF1-B311-8F24-F7D2-0960002ADC18}"/>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1000"/>
              </a:spcAft>
              <a:buClr>
                <a:srgbClr val="000000"/>
              </a:buClr>
              <a:buSzPts val="1400"/>
              <a:buChar char="●"/>
            </a:pPr>
            <a:r>
              <a:rPr lang="en" sz="1400" dirty="0">
                <a:solidFill>
                  <a:schemeClr val="dk1"/>
                </a:solidFill>
              </a:rPr>
              <a:t>Please mention the data background and contents</a:t>
            </a:r>
          </a:p>
          <a:p>
            <a:pPr marL="139700" lvl="0" indent="0" algn="l" rtl="0">
              <a:lnSpc>
                <a:spcPct val="115000"/>
              </a:lnSpc>
              <a:spcBef>
                <a:spcPts val="1000"/>
              </a:spcBef>
              <a:spcAft>
                <a:spcPts val="1000"/>
              </a:spcAft>
              <a:buClr>
                <a:srgbClr val="000000"/>
              </a:buClr>
              <a:buSzPts val="1400"/>
              <a:buNone/>
            </a:pPr>
            <a:endParaRPr sz="1400" dirty="0">
              <a:solidFill>
                <a:schemeClr val="dk1"/>
              </a:solidFill>
            </a:endParaRPr>
          </a:p>
        </p:txBody>
      </p:sp>
      <p:sp>
        <p:nvSpPr>
          <p:cNvPr id="7" name="Rectangle 6">
            <a:extLst>
              <a:ext uri="{FF2B5EF4-FFF2-40B4-BE49-F238E27FC236}">
                <a16:creationId xmlns:a16="http://schemas.microsoft.com/office/drawing/2014/main" id="{00D44D0A-4EFB-7714-E9DA-578F541D77D0}"/>
              </a:ext>
            </a:extLst>
          </p:cNvPr>
          <p:cNvSpPr/>
          <p:nvPr/>
        </p:nvSpPr>
        <p:spPr>
          <a:xfrm>
            <a:off x="2047098" y="3236075"/>
            <a:ext cx="921715" cy="3584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Figure 5</a:t>
            </a:r>
          </a:p>
        </p:txBody>
      </p:sp>
      <p:sp>
        <p:nvSpPr>
          <p:cNvPr id="6" name="Rectangle 5">
            <a:extLst>
              <a:ext uri="{FF2B5EF4-FFF2-40B4-BE49-F238E27FC236}">
                <a16:creationId xmlns:a16="http://schemas.microsoft.com/office/drawing/2014/main" id="{B38C3241-992D-CABD-57A4-B1D12C29444A}"/>
              </a:ext>
            </a:extLst>
          </p:cNvPr>
          <p:cNvSpPr/>
          <p:nvPr/>
        </p:nvSpPr>
        <p:spPr>
          <a:xfrm>
            <a:off x="6637698" y="3737068"/>
            <a:ext cx="921715" cy="3584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Figure 6</a:t>
            </a:r>
          </a:p>
        </p:txBody>
      </p:sp>
      <p:pic>
        <p:nvPicPr>
          <p:cNvPr id="5" name="Picture 4">
            <a:extLst>
              <a:ext uri="{FF2B5EF4-FFF2-40B4-BE49-F238E27FC236}">
                <a16:creationId xmlns:a16="http://schemas.microsoft.com/office/drawing/2014/main" id="{D711487C-1A1D-7299-24E8-6F27F8C4974C}"/>
              </a:ext>
            </a:extLst>
          </p:cNvPr>
          <p:cNvPicPr>
            <a:picLocks noChangeAspect="1"/>
          </p:cNvPicPr>
          <p:nvPr/>
        </p:nvPicPr>
        <p:blipFill>
          <a:blip r:embed="rId3"/>
          <a:stretch>
            <a:fillRect/>
          </a:stretch>
        </p:blipFill>
        <p:spPr>
          <a:xfrm>
            <a:off x="311650" y="1550238"/>
            <a:ext cx="4392613" cy="1643812"/>
          </a:xfrm>
          <a:prstGeom prst="rect">
            <a:avLst/>
          </a:prstGeom>
        </p:spPr>
      </p:pic>
      <p:pic>
        <p:nvPicPr>
          <p:cNvPr id="9" name="Picture 8">
            <a:extLst>
              <a:ext uri="{FF2B5EF4-FFF2-40B4-BE49-F238E27FC236}">
                <a16:creationId xmlns:a16="http://schemas.microsoft.com/office/drawing/2014/main" id="{B02C0347-77CA-FADC-BB6F-01015047CEAC}"/>
              </a:ext>
            </a:extLst>
          </p:cNvPr>
          <p:cNvPicPr>
            <a:picLocks noChangeAspect="1"/>
          </p:cNvPicPr>
          <p:nvPr/>
        </p:nvPicPr>
        <p:blipFill>
          <a:blip r:embed="rId4"/>
          <a:stretch>
            <a:fillRect/>
          </a:stretch>
        </p:blipFill>
        <p:spPr>
          <a:xfrm>
            <a:off x="4813361" y="780047"/>
            <a:ext cx="4018889" cy="2635250"/>
          </a:xfrm>
          <a:prstGeom prst="rect">
            <a:avLst/>
          </a:prstGeom>
        </p:spPr>
      </p:pic>
    </p:spTree>
    <p:extLst>
      <p:ext uri="{BB962C8B-B14F-4D97-AF65-F5344CB8AC3E}">
        <p14:creationId xmlns:p14="http://schemas.microsoft.com/office/powerpoint/2010/main" val="891947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Model Improvement – Baseline</a:t>
            </a:r>
            <a:endParaRPr dirty="0">
              <a:solidFill>
                <a:srgbClr val="000000"/>
              </a:solidFill>
            </a:endParaRPr>
          </a:p>
        </p:txBody>
      </p:sp>
      <p:sp>
        <p:nvSpPr>
          <p:cNvPr id="162" name="Google Shape;162;p10"/>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indent="-317500">
              <a:spcBef>
                <a:spcPts val="1000"/>
              </a:spcBef>
              <a:buClr>
                <a:srgbClr val="000000"/>
              </a:buClr>
              <a:buSzPts val="1400"/>
              <a:buFont typeface="Arial" panose="020B0604020202020204" pitchFamily="34" charset="0"/>
              <a:buChar char="•"/>
            </a:pPr>
            <a:r>
              <a:rPr lang="en-US" sz="1400" dirty="0">
                <a:solidFill>
                  <a:schemeClr val="dk1"/>
                </a:solidFill>
              </a:rPr>
              <a:t>Baseline Models — Validation Performance Scores</a:t>
            </a:r>
          </a:p>
          <a:p>
            <a:pPr lvl="1" indent="-317500">
              <a:spcBef>
                <a:spcPts val="1000"/>
              </a:spcBef>
              <a:buClr>
                <a:srgbClr val="000000"/>
              </a:buClr>
              <a:buSzPts val="1400"/>
              <a:buFont typeface="Courier New" panose="02070309020205020404" pitchFamily="49" charset="0"/>
              <a:buChar char="o"/>
            </a:pPr>
            <a:r>
              <a:rPr lang="en-US" sz="1200" dirty="0">
                <a:solidFill>
                  <a:schemeClr val="dk1"/>
                </a:solidFill>
              </a:rPr>
              <a:t>Decision Tree: Accuracy 95.5% | Recall 19.1% | Precision 83.5% | F1 31.0%</a:t>
            </a:r>
          </a:p>
          <a:p>
            <a:pPr lvl="1" indent="-317500">
              <a:spcBef>
                <a:spcPts val="1000"/>
              </a:spcBef>
              <a:buClr>
                <a:srgbClr val="000000"/>
              </a:buClr>
              <a:buSzPts val="1400"/>
              <a:buFont typeface="Courier New" panose="02070309020205020404" pitchFamily="49" charset="0"/>
              <a:buChar char="o"/>
            </a:pPr>
            <a:r>
              <a:rPr lang="en-US" sz="1200" dirty="0">
                <a:solidFill>
                  <a:schemeClr val="dk1"/>
                </a:solidFill>
              </a:rPr>
              <a:t>Random Forest: Accuracy 94.8% | Recall 2.5% | Precision 74.3% | F1 4.8%</a:t>
            </a:r>
          </a:p>
          <a:p>
            <a:pPr lvl="1" indent="-317500">
              <a:spcBef>
                <a:spcPts val="1000"/>
              </a:spcBef>
              <a:buClr>
                <a:srgbClr val="000000"/>
              </a:buClr>
              <a:buSzPts val="1400"/>
              <a:buFont typeface="Courier New" panose="02070309020205020404" pitchFamily="49" charset="0"/>
              <a:buChar char="o"/>
            </a:pPr>
            <a:r>
              <a:rPr lang="en-US" sz="1200" dirty="0">
                <a:solidFill>
                  <a:schemeClr val="dk1"/>
                </a:solidFill>
              </a:rPr>
              <a:t>Gradient Boosting: Accuracy 94.6% | Recall 33.4% | Precision 48.5% | F1 39.6%</a:t>
            </a:r>
          </a:p>
          <a:p>
            <a:pPr lvl="1" indent="-317500">
              <a:spcBef>
                <a:spcPts val="1000"/>
              </a:spcBef>
              <a:buClr>
                <a:srgbClr val="000000"/>
              </a:buClr>
              <a:buSzPts val="1400"/>
              <a:buFont typeface="Courier New" panose="02070309020205020404" pitchFamily="49" charset="0"/>
              <a:buChar char="o"/>
            </a:pPr>
            <a:r>
              <a:rPr lang="en-US" sz="1200" b="1" dirty="0">
                <a:solidFill>
                  <a:schemeClr val="dk1"/>
                </a:solidFill>
              </a:rPr>
              <a:t>XGBoost</a:t>
            </a:r>
            <a:r>
              <a:rPr lang="en-US" sz="1200" dirty="0">
                <a:solidFill>
                  <a:schemeClr val="dk1"/>
                </a:solidFill>
              </a:rPr>
              <a:t>: Accuracy 96.6% | Recall 48.7% | Precision 78.6% | F1 60.1%</a:t>
            </a:r>
          </a:p>
          <a:p>
            <a:pPr lvl="1" indent="-317500">
              <a:spcBef>
                <a:spcPts val="1000"/>
              </a:spcBef>
              <a:buClr>
                <a:srgbClr val="000000"/>
              </a:buClr>
              <a:buSzPts val="1400"/>
              <a:buFont typeface="Courier New" panose="02070309020205020404" pitchFamily="49" charset="0"/>
              <a:buChar char="o"/>
            </a:pPr>
            <a:r>
              <a:rPr lang="en-US" sz="1200" b="1" dirty="0">
                <a:solidFill>
                  <a:schemeClr val="dk1"/>
                </a:solidFill>
              </a:rPr>
              <a:t>ANN</a:t>
            </a:r>
            <a:r>
              <a:rPr lang="en-US" sz="1200" dirty="0">
                <a:solidFill>
                  <a:schemeClr val="dk1"/>
                </a:solidFill>
              </a:rPr>
              <a:t>: Accuracy 96.4% | Recall 58.1% | Precision 68.8% | F1 63.0%</a:t>
            </a:r>
          </a:p>
          <a:p>
            <a:pPr marL="0" lvl="0" indent="0" algn="l" rtl="0">
              <a:lnSpc>
                <a:spcPct val="115000"/>
              </a:lnSpc>
              <a:spcBef>
                <a:spcPts val="1000"/>
              </a:spcBef>
              <a:spcAft>
                <a:spcPts val="0"/>
              </a:spcAft>
              <a:buSzPts val="1500"/>
              <a:buNone/>
            </a:pPr>
            <a:endParaRPr sz="1400" dirty="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F4A4F720-A5C5-123D-B1AF-B20D9DF5CC7D}"/>
            </a:ext>
          </a:extLst>
        </p:cNvPr>
        <p:cNvGrpSpPr/>
        <p:nvPr/>
      </p:nvGrpSpPr>
      <p:grpSpPr>
        <a:xfrm>
          <a:off x="0" y="0"/>
          <a:ext cx="0" cy="0"/>
          <a:chOff x="0" y="0"/>
          <a:chExt cx="0" cy="0"/>
        </a:xfrm>
      </p:grpSpPr>
      <p:sp>
        <p:nvSpPr>
          <p:cNvPr id="161" name="Google Shape;161;p10">
            <a:extLst>
              <a:ext uri="{FF2B5EF4-FFF2-40B4-BE49-F238E27FC236}">
                <a16:creationId xmlns:a16="http://schemas.microsoft.com/office/drawing/2014/main" id="{F2B4E99E-B644-408F-2AAB-13C6A7D4C58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Building - Baseline</a:t>
            </a:r>
            <a:endParaRPr>
              <a:solidFill>
                <a:srgbClr val="000000"/>
              </a:solidFill>
            </a:endParaRPr>
          </a:p>
        </p:txBody>
      </p:sp>
      <p:sp>
        <p:nvSpPr>
          <p:cNvPr id="162" name="Google Shape;162;p10">
            <a:extLst>
              <a:ext uri="{FF2B5EF4-FFF2-40B4-BE49-F238E27FC236}">
                <a16:creationId xmlns:a16="http://schemas.microsoft.com/office/drawing/2014/main" id="{366EC071-EE2D-A069-BB31-81B26C27248B}"/>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r>
              <a:rPr lang="en" sz="1400" dirty="0">
                <a:solidFill>
                  <a:schemeClr val="dk1"/>
                </a:solidFill>
              </a:rPr>
              <a:t>Comments of the baseline models performance</a:t>
            </a:r>
          </a:p>
          <a:p>
            <a:pPr lvl="1" indent="-317500">
              <a:spcBef>
                <a:spcPts val="1000"/>
              </a:spcBef>
              <a:buClr>
                <a:srgbClr val="000000"/>
              </a:buClr>
              <a:buSzPts val="1400"/>
              <a:buFont typeface="Courier New" panose="02070309020205020404" pitchFamily="49" charset="0"/>
              <a:buChar char="o"/>
            </a:pPr>
            <a:r>
              <a:rPr lang="en-US" sz="1200" dirty="0">
                <a:solidFill>
                  <a:schemeClr val="dk1"/>
                </a:solidFill>
              </a:rPr>
              <a:t>Decision Tree: The decision tree is not optimal for the task at hand due its recall score of 19.1%, this shows that we miss 80% of the failures in the dataset which is unacceptable.</a:t>
            </a:r>
          </a:p>
          <a:p>
            <a:pPr lvl="1" indent="-317500">
              <a:spcBef>
                <a:spcPts val="1000"/>
              </a:spcBef>
              <a:buClr>
                <a:srgbClr val="000000"/>
              </a:buClr>
              <a:buSzPts val="1400"/>
              <a:buFont typeface="Courier New" panose="02070309020205020404" pitchFamily="49" charset="0"/>
              <a:buChar char="o"/>
            </a:pPr>
            <a:r>
              <a:rPr lang="en-US" sz="1200" dirty="0">
                <a:solidFill>
                  <a:schemeClr val="dk1"/>
                </a:solidFill>
              </a:rPr>
              <a:t>Gradient Boosting: A slight increase to the recall score with a score of 33.4% but that still put the model at missing of 50% of the failures in the model which is unacceptable.</a:t>
            </a:r>
          </a:p>
          <a:p>
            <a:pPr lvl="1" indent="-317500">
              <a:spcBef>
                <a:spcPts val="1000"/>
              </a:spcBef>
              <a:buClr>
                <a:srgbClr val="000000"/>
              </a:buClr>
              <a:buSzPts val="1400"/>
              <a:buFont typeface="Courier New" panose="02070309020205020404" pitchFamily="49" charset="0"/>
              <a:buChar char="o"/>
            </a:pPr>
            <a:r>
              <a:rPr lang="en-US" sz="1200" dirty="0">
                <a:solidFill>
                  <a:schemeClr val="dk1"/>
                </a:solidFill>
              </a:rPr>
              <a:t>Random Forest: The lowest recall score of 2.5%, this model cannot be utilized in anyway for accurate “failure”/”normal” classification.</a:t>
            </a:r>
          </a:p>
          <a:p>
            <a:pPr lvl="1" indent="-317500">
              <a:spcBef>
                <a:spcPts val="1000"/>
              </a:spcBef>
              <a:buClr>
                <a:srgbClr val="000000"/>
              </a:buClr>
              <a:buSzPts val="1400"/>
              <a:buFont typeface="Courier New" panose="02070309020205020404" pitchFamily="49" charset="0"/>
              <a:buChar char="o"/>
            </a:pPr>
            <a:r>
              <a:rPr lang="en-US" sz="1200" dirty="0">
                <a:solidFill>
                  <a:schemeClr val="dk1"/>
                </a:solidFill>
              </a:rPr>
              <a:t>XGBoost: A large increase to recall score compared to the others with a score of 48.7% which is getting my closer to my desired minimum classifying 50% of the faults in the model correctly.</a:t>
            </a:r>
          </a:p>
          <a:p>
            <a:pPr lvl="1" indent="-317500">
              <a:spcBef>
                <a:spcPts val="1000"/>
              </a:spcBef>
              <a:buClr>
                <a:srgbClr val="000000"/>
              </a:buClr>
              <a:buSzPts val="1400"/>
              <a:buFont typeface="Courier New" panose="02070309020205020404" pitchFamily="49" charset="0"/>
              <a:buChar char="o"/>
            </a:pPr>
            <a:r>
              <a:rPr lang="en-US" sz="1200" dirty="0">
                <a:solidFill>
                  <a:schemeClr val="dk1"/>
                </a:solidFill>
              </a:rPr>
              <a:t>ANN: The largest recall score of 58.1%, this puts me in my desired range for a recall score making this the optimal baseline model.</a:t>
            </a:r>
            <a:endParaRPr sz="1200" dirty="0">
              <a:solidFill>
                <a:schemeClr val="dk1"/>
              </a:solidFill>
            </a:endParaRPr>
          </a:p>
        </p:txBody>
      </p:sp>
    </p:spTree>
    <p:extLst>
      <p:ext uri="{BB962C8B-B14F-4D97-AF65-F5344CB8AC3E}">
        <p14:creationId xmlns:p14="http://schemas.microsoft.com/office/powerpoint/2010/main" val="4184846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6">
          <a:extLst>
            <a:ext uri="{FF2B5EF4-FFF2-40B4-BE49-F238E27FC236}">
              <a16:creationId xmlns:a16="http://schemas.microsoft.com/office/drawing/2014/main" id="{C13000E4-6B0F-D93F-85A3-14315D27C46E}"/>
            </a:ext>
          </a:extLst>
        </p:cNvPr>
        <p:cNvGrpSpPr/>
        <p:nvPr/>
      </p:nvGrpSpPr>
      <p:grpSpPr>
        <a:xfrm>
          <a:off x="0" y="0"/>
          <a:ext cx="0" cy="0"/>
          <a:chOff x="0" y="0"/>
          <a:chExt cx="0" cy="0"/>
        </a:xfrm>
      </p:grpSpPr>
      <p:sp>
        <p:nvSpPr>
          <p:cNvPr id="167" name="Google Shape;167;p13">
            <a:extLst>
              <a:ext uri="{FF2B5EF4-FFF2-40B4-BE49-F238E27FC236}">
                <a16:creationId xmlns:a16="http://schemas.microsoft.com/office/drawing/2014/main" id="{DA1D6611-64EC-D36B-6AF7-8269ED39C3F7}"/>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Improvement - Hyperparameter Tuning</a:t>
            </a:r>
            <a:endParaRPr>
              <a:solidFill>
                <a:srgbClr val="000000"/>
              </a:solidFill>
            </a:endParaRPr>
          </a:p>
        </p:txBody>
      </p:sp>
      <p:sp>
        <p:nvSpPr>
          <p:cNvPr id="168" name="Google Shape;168;p13">
            <a:extLst>
              <a:ext uri="{FF2B5EF4-FFF2-40B4-BE49-F238E27FC236}">
                <a16:creationId xmlns:a16="http://schemas.microsoft.com/office/drawing/2014/main" id="{44311BC4-E671-81F9-0DEA-921111FF7C71}"/>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r>
              <a:rPr lang="en-US" sz="1400" dirty="0">
                <a:solidFill>
                  <a:schemeClr val="dk1"/>
                </a:solidFill>
              </a:rPr>
              <a:t>The best performing models with rationale</a:t>
            </a:r>
          </a:p>
          <a:p>
            <a:pPr lvl="1" indent="-317500">
              <a:spcBef>
                <a:spcPts val="1000"/>
              </a:spcBef>
              <a:buClr>
                <a:srgbClr val="000000"/>
              </a:buClr>
              <a:buSzPts val="1400"/>
              <a:buChar char="●"/>
            </a:pPr>
            <a:endParaRPr lang="en-US" sz="1200" dirty="0">
              <a:solidFill>
                <a:schemeClr val="dk1"/>
              </a:solidFill>
            </a:endParaRPr>
          </a:p>
        </p:txBody>
      </p:sp>
    </p:spTree>
    <p:extLst>
      <p:ext uri="{BB962C8B-B14F-4D97-AF65-F5344CB8AC3E}">
        <p14:creationId xmlns:p14="http://schemas.microsoft.com/office/powerpoint/2010/main" val="2476274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6">
          <a:extLst>
            <a:ext uri="{FF2B5EF4-FFF2-40B4-BE49-F238E27FC236}">
              <a16:creationId xmlns:a16="http://schemas.microsoft.com/office/drawing/2014/main" id="{F0BC6040-EF7C-F0FE-D44E-DBA36816429E}"/>
            </a:ext>
          </a:extLst>
        </p:cNvPr>
        <p:cNvGrpSpPr/>
        <p:nvPr/>
      </p:nvGrpSpPr>
      <p:grpSpPr>
        <a:xfrm>
          <a:off x="0" y="0"/>
          <a:ext cx="0" cy="0"/>
          <a:chOff x="0" y="0"/>
          <a:chExt cx="0" cy="0"/>
        </a:xfrm>
      </p:grpSpPr>
      <p:sp>
        <p:nvSpPr>
          <p:cNvPr id="167" name="Google Shape;167;p13">
            <a:extLst>
              <a:ext uri="{FF2B5EF4-FFF2-40B4-BE49-F238E27FC236}">
                <a16:creationId xmlns:a16="http://schemas.microsoft.com/office/drawing/2014/main" id="{4B2C3D70-FF23-2213-5AC9-FF13DF359EB3}"/>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Improvement - Hyperparameter Tuning</a:t>
            </a:r>
            <a:endParaRPr>
              <a:solidFill>
                <a:srgbClr val="000000"/>
              </a:solidFill>
            </a:endParaRPr>
          </a:p>
        </p:txBody>
      </p:sp>
      <p:sp>
        <p:nvSpPr>
          <p:cNvPr id="168" name="Google Shape;168;p13">
            <a:extLst>
              <a:ext uri="{FF2B5EF4-FFF2-40B4-BE49-F238E27FC236}">
                <a16:creationId xmlns:a16="http://schemas.microsoft.com/office/drawing/2014/main" id="{C95E31B4-4C6E-91C5-2C07-EC2A9B20D451}"/>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r>
              <a:rPr lang="en-US" sz="1400" dirty="0">
                <a:solidFill>
                  <a:schemeClr val="dk1"/>
                </a:solidFill>
              </a:rPr>
              <a:t>Describe the method used and parameters tuned</a:t>
            </a:r>
          </a:p>
          <a:p>
            <a:pPr lvl="1" indent="-317500">
              <a:spcBef>
                <a:spcPts val="1000"/>
              </a:spcBef>
              <a:buClr>
                <a:srgbClr val="000000"/>
              </a:buClr>
              <a:buSzPts val="1400"/>
              <a:buFont typeface="Courier New" panose="02070309020205020404" pitchFamily="49" charset="0"/>
              <a:buChar char="o"/>
            </a:pPr>
            <a:r>
              <a:rPr lang="en-US" sz="1200" dirty="0">
                <a:solidFill>
                  <a:schemeClr val="dk1"/>
                </a:solidFill>
              </a:rPr>
              <a:t>Artificial Neural Network (ANN)</a:t>
            </a:r>
          </a:p>
          <a:p>
            <a:pPr lvl="2" indent="-317500">
              <a:spcBef>
                <a:spcPts val="1000"/>
              </a:spcBef>
              <a:buClr>
                <a:srgbClr val="000000"/>
              </a:buClr>
              <a:buSzPts val="1400"/>
              <a:buFont typeface="Wingdings" panose="05000000000000000000" pitchFamily="2" charset="2"/>
              <a:buChar char="§"/>
            </a:pPr>
            <a:r>
              <a:rPr lang="en-US" dirty="0">
                <a:solidFill>
                  <a:schemeClr val="dk1"/>
                </a:solidFill>
              </a:rPr>
              <a:t>Used manual tuning to compare different configurations.</a:t>
            </a:r>
          </a:p>
          <a:p>
            <a:pPr lvl="2" indent="-317500">
              <a:spcBef>
                <a:spcPts val="1000"/>
              </a:spcBef>
              <a:buClr>
                <a:srgbClr val="000000"/>
              </a:buClr>
              <a:buSzPts val="1400"/>
              <a:buFont typeface="Wingdings" panose="05000000000000000000" pitchFamily="2" charset="2"/>
              <a:buChar char="§"/>
            </a:pPr>
            <a:r>
              <a:rPr lang="en-US" dirty="0">
                <a:solidFill>
                  <a:schemeClr val="dk1"/>
                </a:solidFill>
              </a:rPr>
              <a:t>Adjusted the number of neurons in both hidden layers, training epochs, and batch size.</a:t>
            </a:r>
          </a:p>
          <a:p>
            <a:pPr lvl="2" indent="-317500">
              <a:spcBef>
                <a:spcPts val="1000"/>
              </a:spcBef>
              <a:buClr>
                <a:srgbClr val="000000"/>
              </a:buClr>
              <a:buSzPts val="1400"/>
              <a:buFont typeface="Wingdings" panose="05000000000000000000" pitchFamily="2" charset="2"/>
              <a:buChar char="§"/>
            </a:pPr>
            <a:r>
              <a:rPr lang="en-US" dirty="0">
                <a:solidFill>
                  <a:schemeClr val="dk1"/>
                </a:solidFill>
              </a:rPr>
              <a:t>Compared validation recall and precision, prioritizing recall while monitoring false alerts.</a:t>
            </a:r>
          </a:p>
          <a:p>
            <a:pPr lvl="1" indent="-317500">
              <a:spcBef>
                <a:spcPts val="1000"/>
              </a:spcBef>
              <a:buClr>
                <a:srgbClr val="000000"/>
              </a:buClr>
              <a:buSzPts val="1400"/>
              <a:buFont typeface="Courier New" panose="02070309020205020404" pitchFamily="49" charset="0"/>
              <a:buChar char="o"/>
            </a:pPr>
            <a:r>
              <a:rPr lang="en-US" sz="1200" dirty="0">
                <a:solidFill>
                  <a:schemeClr val="dk1"/>
                </a:solidFill>
              </a:rPr>
              <a:t>XGBoost</a:t>
            </a:r>
          </a:p>
          <a:p>
            <a:pPr lvl="2" indent="-317500">
              <a:spcBef>
                <a:spcPts val="1000"/>
              </a:spcBef>
              <a:buClr>
                <a:srgbClr val="000000"/>
              </a:buClr>
              <a:buSzPts val="1400"/>
              <a:buFont typeface="Wingdings" panose="05000000000000000000" pitchFamily="2" charset="2"/>
              <a:buChar char="§"/>
            </a:pPr>
            <a:r>
              <a:rPr lang="en-US" dirty="0">
                <a:solidFill>
                  <a:schemeClr val="dk1"/>
                </a:solidFill>
              </a:rPr>
              <a:t>Used randomized search to evaluate 30 hyperparameter combinations with five-fold cross-validation.</a:t>
            </a:r>
          </a:p>
          <a:p>
            <a:pPr lvl="2" indent="-317500">
              <a:spcBef>
                <a:spcPts val="1000"/>
              </a:spcBef>
              <a:buClr>
                <a:srgbClr val="000000"/>
              </a:buClr>
              <a:buSzPts val="1400"/>
              <a:buFont typeface="Wingdings" panose="05000000000000000000" pitchFamily="2" charset="2"/>
              <a:buChar char="§"/>
            </a:pPr>
            <a:r>
              <a:rPr lang="en-US" dirty="0">
                <a:solidFill>
                  <a:schemeClr val="dk1"/>
                </a:solidFill>
              </a:rPr>
              <a:t>Tuned the number of trees, learning rate, tree depth, minimum child weight, gamma, row and feature sampling, and L1/L2 regularization.</a:t>
            </a:r>
          </a:p>
          <a:p>
            <a:pPr lvl="2" indent="-317500">
              <a:spcBef>
                <a:spcPts val="1000"/>
              </a:spcBef>
              <a:buClr>
                <a:srgbClr val="000000"/>
              </a:buClr>
              <a:buSzPts val="1400"/>
              <a:buFont typeface="Wingdings" panose="05000000000000000000" pitchFamily="2" charset="2"/>
              <a:buChar char="§"/>
            </a:pPr>
            <a:r>
              <a:rPr lang="en-US" dirty="0">
                <a:solidFill>
                  <a:schemeClr val="dk1"/>
                </a:solidFill>
              </a:rPr>
              <a:t>Selected the configuration with the highest average cross-validation recall, then evaluated its validation recall and precision.</a:t>
            </a:r>
          </a:p>
        </p:txBody>
      </p:sp>
    </p:spTree>
    <p:extLst>
      <p:ext uri="{BB962C8B-B14F-4D97-AF65-F5344CB8AC3E}">
        <p14:creationId xmlns:p14="http://schemas.microsoft.com/office/powerpoint/2010/main" val="1603939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6">
          <a:extLst>
            <a:ext uri="{FF2B5EF4-FFF2-40B4-BE49-F238E27FC236}">
              <a16:creationId xmlns:a16="http://schemas.microsoft.com/office/drawing/2014/main" id="{6823232F-578A-B59C-2B0C-32029039D997}"/>
            </a:ext>
          </a:extLst>
        </p:cNvPr>
        <p:cNvGrpSpPr/>
        <p:nvPr/>
      </p:nvGrpSpPr>
      <p:grpSpPr>
        <a:xfrm>
          <a:off x="0" y="0"/>
          <a:ext cx="0" cy="0"/>
          <a:chOff x="0" y="0"/>
          <a:chExt cx="0" cy="0"/>
        </a:xfrm>
      </p:grpSpPr>
      <p:sp>
        <p:nvSpPr>
          <p:cNvPr id="167" name="Google Shape;167;p13">
            <a:extLst>
              <a:ext uri="{FF2B5EF4-FFF2-40B4-BE49-F238E27FC236}">
                <a16:creationId xmlns:a16="http://schemas.microsoft.com/office/drawing/2014/main" id="{B0A02236-2B92-9745-D8EF-5A7380E2E4CF}"/>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Improvement - Hyperparameter Tuning</a:t>
            </a:r>
            <a:endParaRPr>
              <a:solidFill>
                <a:srgbClr val="000000"/>
              </a:solidFill>
            </a:endParaRPr>
          </a:p>
        </p:txBody>
      </p:sp>
      <p:sp>
        <p:nvSpPr>
          <p:cNvPr id="168" name="Google Shape;168;p13">
            <a:extLst>
              <a:ext uri="{FF2B5EF4-FFF2-40B4-BE49-F238E27FC236}">
                <a16:creationId xmlns:a16="http://schemas.microsoft.com/office/drawing/2014/main" id="{B1FB71E2-0276-7143-75C8-B930EC705756}"/>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r>
              <a:rPr lang="en-US" sz="1400" dirty="0">
                <a:solidFill>
                  <a:schemeClr val="dk1"/>
                </a:solidFill>
              </a:rPr>
              <a:t>Comment on the performance of the tuned models</a:t>
            </a:r>
          </a:p>
          <a:p>
            <a:pPr lvl="2" indent="-317500">
              <a:spcBef>
                <a:spcPts val="1000"/>
              </a:spcBef>
              <a:buClr>
                <a:srgbClr val="000000"/>
              </a:buClr>
              <a:buSzPts val="1400"/>
              <a:buFont typeface="Wingdings" panose="05000000000000000000" pitchFamily="2" charset="2"/>
              <a:buChar char="§"/>
            </a:pPr>
            <a:r>
              <a:rPr lang="en-US" sz="1100" dirty="0">
                <a:solidFill>
                  <a:schemeClr val="dk1"/>
                </a:solidFill>
              </a:rPr>
              <a:t>ANN (Artificial Neural Network)</a:t>
            </a:r>
          </a:p>
          <a:p>
            <a:pPr lvl="3" indent="-317500">
              <a:spcBef>
                <a:spcPts val="1000"/>
              </a:spcBef>
              <a:buClr>
                <a:srgbClr val="000000"/>
              </a:buClr>
              <a:buSzPts val="1400"/>
              <a:buFont typeface="Wingdings" panose="05000000000000000000" pitchFamily="2" charset="2"/>
              <a:buChar char="§"/>
            </a:pPr>
            <a:r>
              <a:rPr lang="en-US" sz="1000" dirty="0">
                <a:solidFill>
                  <a:schemeClr val="dk1"/>
                </a:solidFill>
              </a:rPr>
              <a:t>Tuning increased the validation recall score from 60.3% to 66.1% and the precision went from 71.5% to 79.5%. </a:t>
            </a:r>
          </a:p>
          <a:p>
            <a:pPr lvl="3" indent="-317500">
              <a:spcBef>
                <a:spcPts val="1000"/>
              </a:spcBef>
              <a:buClr>
                <a:srgbClr val="000000"/>
              </a:buClr>
              <a:buSzPts val="1400"/>
              <a:buFont typeface="Wingdings" panose="05000000000000000000" pitchFamily="2" charset="2"/>
              <a:buChar char="§"/>
            </a:pPr>
            <a:r>
              <a:rPr lang="en-US" sz="1000" dirty="0">
                <a:solidFill>
                  <a:schemeClr val="dk1"/>
                </a:solidFill>
              </a:rPr>
              <a:t>The model improved in fault detection and alert precision.</a:t>
            </a:r>
          </a:p>
          <a:p>
            <a:pPr lvl="2" indent="-317500">
              <a:spcBef>
                <a:spcPts val="1000"/>
              </a:spcBef>
              <a:buClr>
                <a:srgbClr val="000000"/>
              </a:buClr>
              <a:buSzPts val="1400"/>
              <a:buFont typeface="Wingdings" panose="05000000000000000000" pitchFamily="2" charset="2"/>
              <a:buChar char="§"/>
            </a:pPr>
            <a:r>
              <a:rPr lang="en-US" sz="1100" dirty="0">
                <a:solidFill>
                  <a:schemeClr val="dk1"/>
                </a:solidFill>
              </a:rPr>
              <a:t>XGBoost</a:t>
            </a:r>
          </a:p>
          <a:p>
            <a:pPr lvl="3" indent="-317500">
              <a:spcBef>
                <a:spcPts val="1000"/>
              </a:spcBef>
              <a:buClr>
                <a:srgbClr val="000000"/>
              </a:buClr>
              <a:buSzPts val="1400"/>
              <a:buFont typeface="Wingdings" panose="05000000000000000000" pitchFamily="2" charset="2"/>
              <a:buChar char="§"/>
            </a:pPr>
            <a:r>
              <a:rPr lang="en-US" dirty="0">
                <a:solidFill>
                  <a:schemeClr val="dk1"/>
                </a:solidFill>
              </a:rPr>
              <a:t>Tuning increased the validation recall score from 48.7% to 90.8% and the precision decreased from 78.6% to 60.9%. </a:t>
            </a:r>
          </a:p>
          <a:p>
            <a:pPr lvl="3" indent="-317500">
              <a:spcBef>
                <a:spcPts val="1000"/>
              </a:spcBef>
              <a:buClr>
                <a:srgbClr val="000000"/>
              </a:buClr>
              <a:buSzPts val="1400"/>
              <a:buFont typeface="Wingdings" panose="05000000000000000000" pitchFamily="2" charset="2"/>
              <a:buChar char="§"/>
            </a:pPr>
            <a:r>
              <a:rPr lang="en-US" dirty="0">
                <a:solidFill>
                  <a:schemeClr val="dk1"/>
                </a:solidFill>
              </a:rPr>
              <a:t>This reflects a stronger fault detection despite larger faults alerts</a:t>
            </a:r>
          </a:p>
          <a:p>
            <a:pPr lvl="3" indent="-317500">
              <a:spcBef>
                <a:spcPts val="1000"/>
              </a:spcBef>
              <a:buClr>
                <a:srgbClr val="000000"/>
              </a:buClr>
              <a:buSzPts val="1400"/>
              <a:buFont typeface="Wingdings" panose="05000000000000000000" pitchFamily="2" charset="2"/>
              <a:buChar char="§"/>
            </a:pPr>
            <a:r>
              <a:rPr lang="en-US" dirty="0">
                <a:solidFill>
                  <a:schemeClr val="dk1"/>
                </a:solidFill>
              </a:rPr>
              <a:t>XGBoost remains the optimal model due to recall being the primary focus due to missed failures resulting in costly repairs and a negative effect on profit. </a:t>
            </a:r>
          </a:p>
          <a:p>
            <a:pPr marL="0" lvl="0" indent="0" algn="l" rtl="0">
              <a:lnSpc>
                <a:spcPct val="115000"/>
              </a:lnSpc>
              <a:spcBef>
                <a:spcPts val="1000"/>
              </a:spcBef>
              <a:spcAft>
                <a:spcPts val="0"/>
              </a:spcAft>
              <a:buSzPts val="1500"/>
              <a:buNone/>
            </a:pPr>
            <a:endParaRPr lang="en-US" sz="1400" dirty="0">
              <a:solidFill>
                <a:schemeClr val="dk1"/>
              </a:solidFill>
            </a:endParaRPr>
          </a:p>
        </p:txBody>
      </p:sp>
    </p:spTree>
    <p:extLst>
      <p:ext uri="{BB962C8B-B14F-4D97-AF65-F5344CB8AC3E}">
        <p14:creationId xmlns:p14="http://schemas.microsoft.com/office/powerpoint/2010/main" val="35257812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182" name="Google Shape;182;p15"/>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21</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15902</TotalTime>
  <Words>1904</Words>
  <Application>Microsoft Office PowerPoint</Application>
  <PresentationFormat>On-screen Show (16:9)</PresentationFormat>
  <Paragraphs>143</Paragraphs>
  <Slides>21</Slides>
  <Notes>21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21</vt:i4>
      </vt:variant>
    </vt:vector>
  </HeadingPairs>
  <TitlesOfParts>
    <vt:vector size="30" baseType="lpstr">
      <vt:lpstr>Calibri</vt:lpstr>
      <vt:lpstr>Nunito SemiBold</vt:lpstr>
      <vt:lpstr>Wingdings</vt:lpstr>
      <vt:lpstr>Courier New</vt:lpstr>
      <vt:lpstr>Nunito</vt:lpstr>
      <vt:lpstr>Arial</vt:lpstr>
      <vt:lpstr>Nunito ExtraBold</vt:lpstr>
      <vt:lpstr>Just Logo</vt:lpstr>
      <vt:lpstr>Just Logo</vt:lpstr>
      <vt:lpstr>Wind Turbine Failure Detection</vt:lpstr>
      <vt:lpstr>Contents / Agenda</vt:lpstr>
      <vt:lpstr>Executive Summary </vt:lpstr>
      <vt:lpstr>Business Problem Overview and Solution Approach</vt:lpstr>
      <vt:lpstr>EDA Results</vt:lpstr>
      <vt:lpstr>EDA Results</vt:lpstr>
      <vt:lpstr>Data Preprocessing </vt:lpstr>
      <vt:lpstr>Data Preprocessing </vt:lpstr>
      <vt:lpstr>Model Performance Summary and Final Model Selection</vt:lpstr>
      <vt:lpstr>Model Performance Summary and Final Model Selection</vt:lpstr>
      <vt:lpstr>Model Performance Summary and Final Model Selection</vt:lpstr>
      <vt:lpstr>APPENDIX</vt:lpstr>
      <vt:lpstr>Data Background and Contents</vt:lpstr>
      <vt:lpstr>Data Background and Contents</vt:lpstr>
      <vt:lpstr>Data Background and Contents</vt:lpstr>
      <vt:lpstr>Model Improvement – Baseline</vt:lpstr>
      <vt:lpstr>Model Building - Baseline</vt:lpstr>
      <vt:lpstr>Model Improvement - Hyperparameter Tuning</vt:lpstr>
      <vt:lpstr>Model Improvement - Hyperparameter Tuning</vt:lpstr>
      <vt:lpstr>Model Improvement - Hyperparameter Tuning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Owner</dc:creator>
  <cp:lastModifiedBy>Nasir Pate</cp:lastModifiedBy>
  <cp:revision>69</cp:revision>
  <dcterms:modified xsi:type="dcterms:W3CDTF">2026-09-20T23:37:23Z</dcterms:modified>
</cp:coreProperties>
</file>